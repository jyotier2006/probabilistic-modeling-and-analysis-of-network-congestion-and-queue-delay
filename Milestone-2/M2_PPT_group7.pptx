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9" r:id="rId2"/>
    <p:sldId id="256" r:id="rId3"/>
    <p:sldId id="263" r:id="rId4"/>
    <p:sldId id="264" r:id="rId5"/>
    <p:sldId id="268" r:id="rId6"/>
    <p:sldId id="265" r:id="rId7"/>
    <p:sldId id="266" r:id="rId8"/>
    <p:sldId id="267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Helvetica Neue" panose="020B0604020202020204" charset="0"/>
      <p:regular r:id="rId18"/>
      <p:bold r:id="rId19"/>
      <p:italic r:id="rId20"/>
      <p:boldItalic r:id="rId21"/>
    </p:embeddedFont>
    <p:embeddedFont>
      <p:font typeface="Helvetica Neue Ligh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E35AB93-0481-974A-C460-47374701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7A58ACF6-CC67-1559-60BD-2B78EDB1D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BBBBD86A-17A0-7A40-74C0-BCE35DF2E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075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896DF3E-E07A-5FA0-0FC8-5BE90D55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B76BD70C-DE0A-6143-2357-C2550C7BA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3AAB827C-07E1-1E66-17B4-ABDAD5381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30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F8742DC-70E1-FEB3-BED7-A80DA0BD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453BAA8-660B-E322-FD0C-BD22D7B49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A88CFF2A-339B-A477-D920-7C15F01403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1772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E0A06A4-DA14-3CEE-F14E-B46A9AB8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18909239-23E7-345F-7BD0-CE6B54FF1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ED3FC10E-5494-6453-87F4-4E1E857DE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5368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5B00691-8069-55D5-419E-FAD5402B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7FC805F1-2277-6910-E8D6-C32825F64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3DA161E-756A-84EB-3939-E814ED3D5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161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96ccc62a8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96ccc62a8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c96ccc62a8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96ccc62a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96ccc62a8_1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c96ccc62a8_1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96ccc62a8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96ccc62a8_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c96ccc62a8_1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6ccc62a8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96ccc62a8_1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c96ccc62a8_1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96ccc62a8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96ccc62a8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c96ccc62a8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882025" y="313595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400" dirty="0"/>
              <a:t>Probabilistic Modeling of Network Congestion and Queue Delay</a:t>
            </a:r>
            <a:endParaRPr sz="43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882025" y="4379375"/>
            <a:ext cx="5456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2 Group -7 </a:t>
            </a:r>
            <a:endParaRPr sz="28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Milestone -2</a:t>
            </a:r>
            <a:endParaRPr sz="28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56482" y="5868450"/>
            <a:ext cx="3635517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Yashika Ashar - AU2440182</a:t>
            </a:r>
            <a:endParaRPr sz="20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Jyotier </a:t>
            </a:r>
            <a:r>
              <a:rPr lang="en-US" sz="2000" dirty="0" err="1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Vithlani</a:t>
            </a:r>
            <a:r>
              <a:rPr lang="en-US" sz="20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- AU2440170</a:t>
            </a:r>
            <a:endParaRPr sz="20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1200"/>
              </a:spcBef>
              <a:buSzPct val="100000"/>
            </a:pPr>
            <a:endParaRPr lang="en-US" sz="2400" b="1" dirty="0">
              <a:solidFill>
                <a:schemeClr val="tx1"/>
              </a:solidFill>
            </a:endParaRPr>
          </a:p>
          <a:p>
            <a:pPr marL="0" lvl="0" indent="0">
              <a:spcBef>
                <a:spcPts val="1200"/>
              </a:spcBef>
              <a:buSzPct val="100000"/>
            </a:pPr>
            <a:r>
              <a:rPr lang="en-US" sz="2400" b="1" dirty="0">
                <a:solidFill>
                  <a:schemeClr val="tx1"/>
                </a:solidFill>
              </a:rPr>
              <a:t>Queueing Theoretic Framework Using M/M/1 Model</a:t>
            </a: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A879E-7AC8-01FF-E31E-72BC1104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66" y="3279400"/>
            <a:ext cx="869933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Formal stochastic modeling of packet delay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Congestion analysis using probability theory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+ simulation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E003136-D436-7597-410B-E86FE1B2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6DD1673-D4B2-57D7-5E01-F2E348C5B7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1534" y="-615054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Objective of the Model</a:t>
            </a:r>
            <a:endParaRPr dirty="0"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C0B5A881-0BA4-2C68-AC37-3DDAB6A540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A9C34B62-57F6-FB64-EC86-57C5E74071F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65CD2D-0D21-EE42-D48E-EAC2871A78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2718" y="1630486"/>
            <a:ext cx="543304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400" b="1" dirty="0"/>
              <a:t>Why Probabilistic </a:t>
            </a:r>
            <a:r>
              <a:rPr lang="en-IN" sz="2400" b="1" dirty="0" err="1"/>
              <a:t>Modeling</a:t>
            </a:r>
            <a:r>
              <a:rPr lang="en-IN" sz="2400" b="1" dirty="0"/>
              <a:t>?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nodes (routers/switches) experience random traffic</a:t>
            </a: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 arrival counts and delays are uncertain</a:t>
            </a: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2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 mathematical framework to quantify uncertainty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2DC08-74A1-DE01-CABB-D3267EE0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2197" y="1536174"/>
            <a:ext cx="5791602" cy="397427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Objective:</a:t>
            </a: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Model packet arrivals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Model processing time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Derive queue length and delay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Analyze congestion onset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37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A6E3D56-7EE0-670F-92E2-7AC0C70E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E794AC58-508E-59A5-F2C6-9158876687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-169962"/>
            <a:ext cx="10515600" cy="1292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M/M/1 Queue Framework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Google Shape;89;p13">
                <a:extLst>
                  <a:ext uri="{FF2B5EF4-FFF2-40B4-BE49-F238E27FC236}">
                    <a16:creationId xmlns:a16="http://schemas.microsoft.com/office/drawing/2014/main" id="{435987CF-4618-7BAE-1B3C-B0FAC0D7951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25744" y="1494144"/>
                <a:ext cx="4978641" cy="29963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Each network node is </a:t>
                </a:r>
                <a:r>
                  <a:rPr lang="en-IN" dirty="0" err="1">
                    <a:solidFill>
                      <a:schemeClr val="tx1"/>
                    </a:solidFill>
                    <a:latin typeface="+mj-lt"/>
                  </a:rPr>
                  <a:t>modeled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as: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M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→ Markovian (Poisson arrivals)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M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→ Markovian (Exponential service)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1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 → Single server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Traffic Intensity: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tx1"/>
                  </a:solidFill>
                  <a:latin typeface="+mj-lt"/>
                </a:endParaRPr>
              </a:p>
              <a:p>
                <a:r>
                  <a:rPr lang="el-GR" dirty="0">
                    <a:solidFill>
                      <a:schemeClr val="tx1"/>
                    </a:solidFill>
                    <a:latin typeface="+mj-lt"/>
                  </a:rPr>
                  <a:t>λ = 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arrival rate</a:t>
                </a:r>
              </a:p>
              <a:p>
                <a:r>
                  <a:rPr lang="el-GR" dirty="0">
                    <a:solidFill>
                      <a:schemeClr val="tx1"/>
                    </a:solidFill>
                    <a:latin typeface="+mj-lt"/>
                  </a:rPr>
                  <a:t>μ = </a:t>
                </a:r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service rate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+mj-lt"/>
                  </a:rPr>
                  <a:t>Stable only if </a:t>
                </a:r>
                <a:r>
                  <a:rPr lang="el-GR" b="1" dirty="0">
                    <a:solidFill>
                      <a:schemeClr val="tx1"/>
                    </a:solidFill>
                    <a:latin typeface="+mj-lt"/>
                  </a:rPr>
                  <a:t>ρ &lt; 1</a:t>
                </a:r>
                <a:endParaRPr lang="el-GR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89" name="Google Shape;89;p13">
                <a:extLst>
                  <a:ext uri="{FF2B5EF4-FFF2-40B4-BE49-F238E27FC236}">
                    <a16:creationId xmlns:a16="http://schemas.microsoft.com/office/drawing/2014/main" id="{435987CF-4618-7BAE-1B3C-B0FAC0D7951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5744" y="1494144"/>
                <a:ext cx="4978641" cy="2996316"/>
              </a:xfrm>
              <a:prstGeom prst="rect">
                <a:avLst/>
              </a:prstGeom>
              <a:blipFill>
                <a:blip r:embed="rId3"/>
                <a:stretch>
                  <a:fillRect b="-32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07C6AEA4-14EF-2529-7EDB-4AB0731F32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FE9B354-44FD-A971-8DF7-C1677307A9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DE63160-A87F-3664-38C2-5F6D0AA69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77" y="1494144"/>
            <a:ext cx="5332661" cy="426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74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4CDB787-DFC4-83DE-D95F-F5F2A802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7BE2772F-2D89-55C8-3C3F-F2C097577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01437"/>
            <a:ext cx="10515600" cy="1292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How Randomness Leads to Congestion</a:t>
            </a:r>
            <a:endParaRPr dirty="0"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108BA412-9C51-5434-056C-F4E1623E76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4F6E87BF-1780-6ECC-25A8-26C67A69BB5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E3C67-AD6B-F246-ACE9-FF703954C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4" y="1494143"/>
            <a:ext cx="867737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 arrivals and service times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if average arrival rate &lt; service rate,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temporary bursts still occur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arrivals cause: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 buildup in queues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waiting time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Occasional congestion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randomness is why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probabilistic modeling is essential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 naturally to analyzing: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 length distribution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 time and delay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21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C93DF93-C5BE-9240-D39C-A7BEC8E0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B1E2908-D533-02C0-F871-E503F891E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-169962"/>
            <a:ext cx="10515600" cy="166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Key Random Variables</a:t>
            </a:r>
            <a:endParaRPr dirty="0"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ED62D516-0FA8-A1A7-804D-65D0B3CDF0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E52F81DE-FC21-1494-6927-BE7AEB3C5A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EC4BB7-B78A-B5D1-599E-0FD4D51F4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12404"/>
              </p:ext>
            </p:extLst>
          </p:nvPr>
        </p:nvGraphicFramePr>
        <p:xfrm>
          <a:off x="728803" y="1974538"/>
          <a:ext cx="11100524" cy="388224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75131">
                  <a:extLst>
                    <a:ext uri="{9D8B030D-6E8A-4147-A177-3AD203B41FA5}">
                      <a16:colId xmlns:a16="http://schemas.microsoft.com/office/drawing/2014/main" val="1036216142"/>
                    </a:ext>
                  </a:extLst>
                </a:gridCol>
                <a:gridCol w="2775131">
                  <a:extLst>
                    <a:ext uri="{9D8B030D-6E8A-4147-A177-3AD203B41FA5}">
                      <a16:colId xmlns:a16="http://schemas.microsoft.com/office/drawing/2014/main" val="3500037104"/>
                    </a:ext>
                  </a:extLst>
                </a:gridCol>
                <a:gridCol w="2775131">
                  <a:extLst>
                    <a:ext uri="{9D8B030D-6E8A-4147-A177-3AD203B41FA5}">
                      <a16:colId xmlns:a16="http://schemas.microsoft.com/office/drawing/2014/main" val="292045303"/>
                    </a:ext>
                  </a:extLst>
                </a:gridCol>
                <a:gridCol w="2775131">
                  <a:extLst>
                    <a:ext uri="{9D8B030D-6E8A-4147-A177-3AD203B41FA5}">
                      <a16:colId xmlns:a16="http://schemas.microsoft.com/office/drawing/2014/main" val="2751426733"/>
                    </a:ext>
                  </a:extLst>
                </a:gridCol>
              </a:tblGrid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Random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Parameter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188055"/>
                  </a:ext>
                </a:extLst>
              </a:tr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Packet arrivals 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Poisson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b="1">
                          <a:solidFill>
                            <a:schemeClr val="tx1"/>
                          </a:solidFill>
                        </a:rPr>
                        <a:t>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857719"/>
                  </a:ext>
                </a:extLst>
              </a:tr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Inter-arrival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Exponential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b="1">
                          <a:solidFill>
                            <a:schemeClr val="tx1"/>
                          </a:solidFill>
                        </a:rPr>
                        <a:t>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362296"/>
                  </a:ext>
                </a:extLst>
              </a:tr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Processing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Exponential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b="1">
                          <a:solidFill>
                            <a:schemeClr val="tx1"/>
                          </a:solidFill>
                        </a:rPr>
                        <a:t>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654231"/>
                  </a:ext>
                </a:extLst>
              </a:tr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Queue length 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Geometric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b="1">
                          <a:solidFill>
                            <a:schemeClr val="tx1"/>
                          </a:solidFill>
                        </a:rPr>
                        <a:t>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0084"/>
                  </a:ext>
                </a:extLst>
              </a:tr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Total delay (W)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Exponential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000" b="1">
                          <a:solidFill>
                            <a:schemeClr val="tx1"/>
                          </a:solidFill>
                        </a:rPr>
                        <a:t>μ − 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56119"/>
                  </a:ext>
                </a:extLst>
              </a:tr>
              <a:tr h="55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Drop indicator (D)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Bernoulli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3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11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508F474-CA26-A9BC-CE3B-1BC4BB57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8AF323AD-87CD-4EEE-CDC9-0CA2FF4C9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-169962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Poisson Distribution (Arrivals)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Google Shape;89;p13">
                <a:extLst>
                  <a:ext uri="{FF2B5EF4-FFF2-40B4-BE49-F238E27FC236}">
                    <a16:creationId xmlns:a16="http://schemas.microsoft.com/office/drawing/2014/main" id="{8CF6D713-6800-E267-771B-083F14A6E3B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87078" y="1567232"/>
                <a:ext cx="5477114" cy="4451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Number of packets in time 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tx1"/>
                          </a:solidFill>
                          <a:latin typeface="+mj-lt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+mj-lt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𝑋</m:t>
                          </m:r>
                          <m:r>
                            <a:rPr lang="ar-AE" sz="2400">
                              <a:solidFill>
                                <a:schemeClr val="tx1"/>
                              </a:solidFill>
                              <a:latin typeface="+mj-lt"/>
                            </a:rPr>
                            <m:t>=</m:t>
                          </m:r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𝑘</m:t>
                          </m:r>
                        </m:e>
                      </m:d>
                      <m:r>
                        <a:rPr lang="ar-AE" sz="2400">
                          <a:solidFill>
                            <a:schemeClr val="tx1"/>
                          </a:solidFill>
                          <a:latin typeface="+mj-lt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+mj-lt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−</m:t>
                              </m:r>
                              <m: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𝜆</m:t>
                              </m:r>
                              <m: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endChr m:val=""/>
                              <m:ctrlP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𝜆</m:t>
                              </m:r>
                              <m:r>
                                <a:rPr lang="ar-AE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𝑡</m:t>
                              </m:r>
                              <m:sSup>
                                <m:sSupPr>
                                  <m:ctrlPr>
                                    <a:rPr lang="ar-AE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𝑘</m:t>
                          </m:r>
                          <m:r>
                            <a:rPr lang="ar-AE" sz="2400">
                              <a:solidFill>
                                <a:schemeClr val="tx1"/>
                              </a:solidFill>
                              <a:latin typeface="+mj-lt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tx1"/>
                  </a:solidFill>
                  <a:latin typeface="+mj-lt"/>
                </a:endParaRPr>
              </a:p>
              <a:p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Properties:</a:t>
                </a: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Mean = </a:t>
                </a:r>
                <a:r>
                  <a:rPr lang="el-GR" sz="2400" dirty="0">
                    <a:solidFill>
                      <a:schemeClr val="tx1"/>
                    </a:solidFill>
                    <a:latin typeface="+mj-lt"/>
                  </a:rPr>
                  <a:t>λ</a:t>
                </a: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t</a:t>
                </a: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Variance = </a:t>
                </a:r>
                <a:r>
                  <a:rPr lang="el-GR" sz="2400" dirty="0">
                    <a:solidFill>
                      <a:schemeClr val="tx1"/>
                    </a:solidFill>
                    <a:latin typeface="+mj-lt"/>
                  </a:rPr>
                  <a:t>λ</a:t>
                </a: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t</a:t>
                </a: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As </a:t>
                </a:r>
                <a:r>
                  <a:rPr lang="el-GR" sz="2400" dirty="0">
                    <a:solidFill>
                      <a:schemeClr val="tx1"/>
                    </a:solidFill>
                    <a:latin typeface="+mj-lt"/>
                  </a:rPr>
                  <a:t>λ </a:t>
                </a: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increases:</a:t>
                </a: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Distribution shifts right</a:t>
                </a: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Variability increases</a:t>
                </a: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solidFill>
                      <a:schemeClr val="tx1"/>
                    </a:solidFill>
                    <a:latin typeface="+mj-lt"/>
                  </a:rPr>
                  <a:t>Traffic becomes unpredictable</a:t>
                </a:r>
              </a:p>
            </p:txBody>
          </p:sp>
        </mc:Choice>
        <mc:Fallback>
          <p:sp>
            <p:nvSpPr>
              <p:cNvPr id="89" name="Google Shape;89;p13">
                <a:extLst>
                  <a:ext uri="{FF2B5EF4-FFF2-40B4-BE49-F238E27FC236}">
                    <a16:creationId xmlns:a16="http://schemas.microsoft.com/office/drawing/2014/main" id="{8CF6D713-6800-E267-771B-083F14A6E3B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7078" y="1567232"/>
                <a:ext cx="5477114" cy="4451603"/>
              </a:xfrm>
              <a:prstGeom prst="rect">
                <a:avLst/>
              </a:prstGeom>
              <a:blipFill>
                <a:blip r:embed="rId3"/>
                <a:stretch>
                  <a:fillRect b="-53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7CB02976-4012-71E9-C235-69D33F5EED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AB5CD87F-10C0-97DC-4135-AADF3D0774F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5122" name="Picture 2" descr="Poisson Distribution - an overview | ScienceDirect Topics">
            <a:extLst>
              <a:ext uri="{FF2B5EF4-FFF2-40B4-BE49-F238E27FC236}">
                <a16:creationId xmlns:a16="http://schemas.microsoft.com/office/drawing/2014/main" id="{5EDEFEF9-9905-42F0-05A7-1BB149A66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57" y="1766770"/>
            <a:ext cx="6104878" cy="405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507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831850" y="-169962"/>
            <a:ext cx="10515600" cy="18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dirty="0"/>
              <a:t>Exponential Distribution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31850" y="2790167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PDF:</a:t>
            </a:r>
            <a:endParaRPr sz="7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f(x)=</a:t>
            </a:r>
            <a:r>
              <a:rPr lang="en-US" sz="7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λe</a:t>
            </a: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^(-</a:t>
            </a:r>
            <a:r>
              <a:rPr lang="en-US" sz="7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λx</a:t>
            </a: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7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Mean:E</a:t>
            </a: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[X]=1/λ</a:t>
            </a:r>
            <a:endParaRPr sz="7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7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P(X&gt;</a:t>
            </a:r>
            <a:r>
              <a:rPr lang="en-US" sz="7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s+t∣X</a:t>
            </a: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&gt;s)=P(X&gt;t)P(X&gt;</a:t>
            </a:r>
            <a:r>
              <a:rPr lang="en-US" sz="7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s+t|X</a:t>
            </a: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&gt;s)=P(X&gt;t)P(X&gt;</a:t>
            </a:r>
            <a:r>
              <a:rPr lang="en-US" sz="7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s+t∣X</a:t>
            </a: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&gt;s)=P(X&gt;t)</a:t>
            </a:r>
            <a:endParaRPr sz="7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makes M/M/1 mathematically tractable.</a:t>
            </a:r>
            <a:endParaRPr sz="7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7725" y="2995075"/>
            <a:ext cx="4554600" cy="34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/>
              <a:t> </a:t>
            </a:r>
            <a:r>
              <a:rPr lang="en-US" dirty="0">
                <a:solidFill>
                  <a:schemeClr val="dk2"/>
                </a:solidFill>
              </a:rPr>
              <a:t>Queue Length Distribution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Under steady state (ρ &lt; 1):</a:t>
            </a: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P(N=n)=(1-ρ)</a:t>
            </a:r>
            <a:r>
              <a:rPr lang="en-US" b="1" dirty="0" err="1"/>
              <a:t>ρ^n</a:t>
            </a: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E[N]=ρ/1-ρ</a:t>
            </a: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Behavior:</a:t>
            </a:r>
            <a:endParaRPr b="1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ρ=0.5=E[N]=1</a:t>
            </a:r>
            <a:endParaRPr b="1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ρ=0.9=E[N]=9</a:t>
            </a:r>
            <a:endParaRPr b="1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Non linear growth → congestion onset</a:t>
            </a: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dirty="0"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Delay at a Node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Average waiting time: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E[Wq]</a:t>
            </a:r>
            <a:r>
              <a:rPr lang="en-US"/>
              <a:t>=</a:t>
            </a:r>
            <a:r>
              <a:rPr lang="en-US" b="1"/>
              <a:t>ρ/μ(1-ρ)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Total time in System: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E[W]=1/μ-λ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As ρ→1: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      Delay → ∞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	System becomes unstable</a:t>
            </a:r>
            <a:endParaRPr b="1"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10</a:t>
            </a:fld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Bernoulli Model (Packet Drop)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Drop indicator: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P(D=1)=pP(D=1)=pP(D=1)=p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Mean: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E[D]=pE[D]=pE[D]=p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Variance: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p(1−p)p(1-p)p(1−p)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 increases as ρ increases.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11</a:t>
            </a:fld>
            <a:endParaRPr b="0"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3575" y="111324"/>
            <a:ext cx="4006349" cy="280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8650" y="3059697"/>
            <a:ext cx="5781274" cy="30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 Dependencies and Probabilistic Reasoning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Key dependencies: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N and W depend on ρ</a:t>
            </a:r>
            <a:b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Drop probability increases with congestion</a:t>
            </a:r>
            <a:b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Using PASTA property: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    Poisson arrivals observe time-average state</a:t>
            </a:r>
            <a:b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     Probability an arriving packet waits = ρ</a:t>
            </a:r>
            <a:b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Conditional delay: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If n packets present: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500">
                <a:latin typeface="Helvetica Neue"/>
                <a:ea typeface="Helvetica Neue"/>
                <a:cs typeface="Helvetica Neue"/>
                <a:sym typeface="Helvetica Neue"/>
              </a:rPr>
              <a:t>E[Delay]=n+1/μ</a:t>
            </a:r>
            <a:endParaRPr sz="4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12</a:t>
            </a:fld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Multi-Node End-to-End Delay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Total delay across n nodes: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Wtotal=W1+W2+⋯⋯+Wn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Assumption: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Per-node delays approximately independent</a:t>
            </a:r>
            <a:br>
              <a:rPr lang="en-US"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Enables scalable end-to-end modeling.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13</a:t>
            </a:fld>
            <a:endParaRPr b="0"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775" y="1935623"/>
            <a:ext cx="4449400" cy="31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 Extensions and Open Issues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83">
                <a:latin typeface="Arial"/>
                <a:ea typeface="Arial"/>
                <a:cs typeface="Arial"/>
                <a:sym typeface="Arial"/>
              </a:rPr>
              <a:t>M/M/1/K finite buffer model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r>
              <a:rPr lang="en-US" sz="4483">
                <a:latin typeface="Arial"/>
                <a:ea typeface="Arial"/>
                <a:cs typeface="Arial"/>
                <a:sym typeface="Arial"/>
              </a:rPr>
              <a:t>Derive drop probability analytically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r>
              <a:rPr lang="en-US" sz="4483">
                <a:latin typeface="Arial"/>
                <a:ea typeface="Arial"/>
                <a:cs typeface="Arial"/>
                <a:sym typeface="Arial"/>
              </a:rPr>
              <a:t>Model bursty traffic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r>
              <a:rPr lang="en-US" sz="4483">
                <a:latin typeface="Arial"/>
                <a:ea typeface="Arial"/>
                <a:cs typeface="Arial"/>
                <a:sym typeface="Arial"/>
              </a:rPr>
              <a:t>Simulation validation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r>
              <a:rPr lang="en-US" sz="4483">
                <a:latin typeface="Arial"/>
                <a:ea typeface="Arial"/>
                <a:cs typeface="Arial"/>
                <a:sym typeface="Arial"/>
              </a:rPr>
              <a:t>Sensitivity analysis (ρ from 0.1 to 0.99)</a:t>
            </a: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4483">
                <a:latin typeface="Arial"/>
                <a:ea typeface="Arial"/>
                <a:cs typeface="Arial"/>
                <a:sym typeface="Arial"/>
              </a:rPr>
              <a:t>Traffic intensity ρ is the unifying parameter:</a:t>
            </a: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83">
                <a:latin typeface="Arial"/>
                <a:ea typeface="Arial"/>
                <a:cs typeface="Arial"/>
                <a:sym typeface="Arial"/>
              </a:rPr>
              <a:t>ρ=λ/μ</a:t>
            </a: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83">
                <a:latin typeface="Arial"/>
                <a:ea typeface="Arial"/>
                <a:cs typeface="Arial"/>
                <a:sym typeface="Arial"/>
              </a:rPr>
              <a:t>As ρ increases:</a:t>
            </a: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83">
                <a:latin typeface="Arial"/>
                <a:ea typeface="Arial"/>
                <a:cs typeface="Arial"/>
                <a:sym typeface="Arial"/>
              </a:rPr>
              <a:t>Queue length ↑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r>
              <a:rPr lang="en-US" sz="4483">
                <a:latin typeface="Arial"/>
                <a:ea typeface="Arial"/>
                <a:cs typeface="Arial"/>
                <a:sym typeface="Arial"/>
              </a:rPr>
              <a:t>Delay ↑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r>
              <a:rPr lang="en-US" sz="4483">
                <a:latin typeface="Arial"/>
                <a:ea typeface="Arial"/>
                <a:cs typeface="Arial"/>
                <a:sym typeface="Arial"/>
              </a:rPr>
              <a:t>Drop probability ↑</a:t>
            </a:r>
            <a:br>
              <a:rPr lang="en-US" sz="4483">
                <a:latin typeface="Arial"/>
                <a:ea typeface="Arial"/>
                <a:cs typeface="Arial"/>
                <a:sym typeface="Arial"/>
              </a:rPr>
            </a:b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4483">
                <a:latin typeface="Arial"/>
                <a:ea typeface="Arial"/>
                <a:cs typeface="Arial"/>
                <a:sym typeface="Arial"/>
              </a:rPr>
              <a:t>All in mathematically consistent manner.</a:t>
            </a:r>
            <a:endParaRPr sz="4483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14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755</Words>
  <Application>Microsoft Office PowerPoint</Application>
  <PresentationFormat>Widescreen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Helvetica Neue Light</vt:lpstr>
      <vt:lpstr>Helvetica Neue</vt:lpstr>
      <vt:lpstr>Arial</vt:lpstr>
      <vt:lpstr>Cambria Math</vt:lpstr>
      <vt:lpstr>Office Theme</vt:lpstr>
      <vt:lpstr>Probabilistic Modeling of Network Congestion and Queue Delay</vt:lpstr>
      <vt:lpstr>Probabilistic Modeling of Network Congestion and Queue Delay</vt:lpstr>
      <vt:lpstr>Objective of the Model</vt:lpstr>
      <vt:lpstr>M/M/1 Queue Framework</vt:lpstr>
      <vt:lpstr>How Randomness Leads to Congestion</vt:lpstr>
      <vt:lpstr>Key Random Variables</vt:lpstr>
      <vt:lpstr>Poisson Distribution (Arrivals)</vt:lpstr>
      <vt:lpstr>Exponential Distribution</vt:lpstr>
      <vt:lpstr> Queue Length Distribution</vt:lpstr>
      <vt:lpstr>Delay at a Node</vt:lpstr>
      <vt:lpstr>Bernoulli Model (Packet Drop)</vt:lpstr>
      <vt:lpstr> Dependencies and Probabilistic Reasoning</vt:lpstr>
      <vt:lpstr>Multi-Node End-to-End Delay</vt:lpstr>
      <vt:lpstr> Extensions and Open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Jyotier Vithalani</dc:creator>
  <cp:lastModifiedBy>Jyotier Vithalani</cp:lastModifiedBy>
  <cp:revision>5</cp:revision>
  <dcterms:modified xsi:type="dcterms:W3CDTF">2026-02-19T17:58:16Z</dcterms:modified>
</cp:coreProperties>
</file>