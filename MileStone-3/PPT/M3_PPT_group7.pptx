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5"/>
  </p:notesMasterIdLst>
  <p:sldIdLst>
    <p:sldId id="269" r:id="rId2"/>
    <p:sldId id="256" r:id="rId3"/>
    <p:sldId id="270" r:id="rId4"/>
    <p:sldId id="271" r:id="rId5"/>
    <p:sldId id="272" r:id="rId6"/>
    <p:sldId id="273" r:id="rId7"/>
    <p:sldId id="274" r:id="rId8"/>
    <p:sldId id="275" r:id="rId9"/>
    <p:sldId id="280" r:id="rId10"/>
    <p:sldId id="277" r:id="rId11"/>
    <p:sldId id="281" r:id="rId12"/>
    <p:sldId id="278" r:id="rId13"/>
    <p:sldId id="279" r:id="rId14"/>
  </p:sldIdLst>
  <p:sldSz cx="12192000" cy="6858000"/>
  <p:notesSz cx="6858000" cy="9144000"/>
  <p:embeddedFontLst>
    <p:embeddedFont>
      <p:font typeface="Helvetica Neue Light" panose="020B0604020202020204" charset="0"/>
      <p:regular r:id="rId16"/>
      <p:bold r:id="rId17"/>
      <p:italic r:id="rId18"/>
      <p:boldItalic r:id="rId1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1B971EA-22D7-4D73-96AE-3128F1F5D701}" v="141" dt="2026-03-10T17:51:40.809"/>
    <p1510:client id="{5F5C7F88-DC95-DA59-7736-AEEB7A7C5B43}" v="21" dt="2026-03-10T13:06:28.602"/>
    <p1510:client id="{884FAF00-B210-2962-5E6F-269999909728}" v="188" dt="2026-03-10T00:52:03.126"/>
    <p1510:client id="{C3A9334A-1890-1B0A-165C-B98387B9838C}" v="404" dt="2026-03-10T00:28:48.814"/>
    <p1510:client id="{CEC30292-2854-BA7A-5EE3-1268AF1BAB2F}" v="132" dt="2026-03-10T10:08:01.54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3.fntdata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" name="Google Shape;8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" name="Google Shape;86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>
          <a:extLst>
            <a:ext uri="{FF2B5EF4-FFF2-40B4-BE49-F238E27FC236}">
              <a16:creationId xmlns:a16="http://schemas.microsoft.com/office/drawing/2014/main" id="{4DE6F41F-2CBF-F73E-9DDC-AD072CC0BE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2:notes">
            <a:extLst>
              <a:ext uri="{FF2B5EF4-FFF2-40B4-BE49-F238E27FC236}">
                <a16:creationId xmlns:a16="http://schemas.microsoft.com/office/drawing/2014/main" id="{15FB1D70-7461-73C7-75BB-2BA8FAAD4B1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" name="Google Shape;86;p2:notes">
            <a:extLst>
              <a:ext uri="{FF2B5EF4-FFF2-40B4-BE49-F238E27FC236}">
                <a16:creationId xmlns:a16="http://schemas.microsoft.com/office/drawing/2014/main" id="{7D3904BC-A549-A8CF-D4D0-522FE56975F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73676217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>
          <a:extLst>
            <a:ext uri="{FF2B5EF4-FFF2-40B4-BE49-F238E27FC236}">
              <a16:creationId xmlns:a16="http://schemas.microsoft.com/office/drawing/2014/main" id="{E8CECC63-7A78-15CE-000E-A3D4EAE827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2:notes">
            <a:extLst>
              <a:ext uri="{FF2B5EF4-FFF2-40B4-BE49-F238E27FC236}">
                <a16:creationId xmlns:a16="http://schemas.microsoft.com/office/drawing/2014/main" id="{E4E969AC-F101-C765-148B-3A0054BFF76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" name="Google Shape;86;p2:notes">
            <a:extLst>
              <a:ext uri="{FF2B5EF4-FFF2-40B4-BE49-F238E27FC236}">
                <a16:creationId xmlns:a16="http://schemas.microsoft.com/office/drawing/2014/main" id="{890E80F1-8BE4-1273-5810-1916DE5EC91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29693413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>
          <a:extLst>
            <a:ext uri="{FF2B5EF4-FFF2-40B4-BE49-F238E27FC236}">
              <a16:creationId xmlns:a16="http://schemas.microsoft.com/office/drawing/2014/main" id="{35116417-D75F-CB64-5BE0-0E794AE7E6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2:notes">
            <a:extLst>
              <a:ext uri="{FF2B5EF4-FFF2-40B4-BE49-F238E27FC236}">
                <a16:creationId xmlns:a16="http://schemas.microsoft.com/office/drawing/2014/main" id="{E26724C2-441A-466D-B942-7D460A29720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" name="Google Shape;86;p2:notes">
            <a:extLst>
              <a:ext uri="{FF2B5EF4-FFF2-40B4-BE49-F238E27FC236}">
                <a16:creationId xmlns:a16="http://schemas.microsoft.com/office/drawing/2014/main" id="{59EA384F-097D-1583-01C2-3CD7E30A8CD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961184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>
          <a:extLst>
            <a:ext uri="{FF2B5EF4-FFF2-40B4-BE49-F238E27FC236}">
              <a16:creationId xmlns:a16="http://schemas.microsoft.com/office/drawing/2014/main" id="{0EF5DC77-E83D-27B5-1007-0E44D7B554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2:notes">
            <a:extLst>
              <a:ext uri="{FF2B5EF4-FFF2-40B4-BE49-F238E27FC236}">
                <a16:creationId xmlns:a16="http://schemas.microsoft.com/office/drawing/2014/main" id="{458CB0AF-B33D-5A73-AA8F-C5B3722185D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" name="Google Shape;86;p2:notes">
            <a:extLst>
              <a:ext uri="{FF2B5EF4-FFF2-40B4-BE49-F238E27FC236}">
                <a16:creationId xmlns:a16="http://schemas.microsoft.com/office/drawing/2014/main" id="{731B1BE1-C7B1-1E1E-F4BB-1AB6FCE036B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66563587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>
          <a:extLst>
            <a:ext uri="{FF2B5EF4-FFF2-40B4-BE49-F238E27FC236}">
              <a16:creationId xmlns:a16="http://schemas.microsoft.com/office/drawing/2014/main" id="{39E1AC39-5E94-C79E-B940-67768AC392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2:notes">
            <a:extLst>
              <a:ext uri="{FF2B5EF4-FFF2-40B4-BE49-F238E27FC236}">
                <a16:creationId xmlns:a16="http://schemas.microsoft.com/office/drawing/2014/main" id="{5C81ADAB-37DB-B0DA-9733-E2938778981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" name="Google Shape;86;p2:notes">
            <a:extLst>
              <a:ext uri="{FF2B5EF4-FFF2-40B4-BE49-F238E27FC236}">
                <a16:creationId xmlns:a16="http://schemas.microsoft.com/office/drawing/2014/main" id="{71BA477C-C85A-E4C5-29A2-20FF5C06053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3063417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>
          <a:extLst>
            <a:ext uri="{FF2B5EF4-FFF2-40B4-BE49-F238E27FC236}">
              <a16:creationId xmlns:a16="http://schemas.microsoft.com/office/drawing/2014/main" id="{D8764FE9-7C5B-D157-94EA-6DB2B71D85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2:notes">
            <a:extLst>
              <a:ext uri="{FF2B5EF4-FFF2-40B4-BE49-F238E27FC236}">
                <a16:creationId xmlns:a16="http://schemas.microsoft.com/office/drawing/2014/main" id="{4CF20FD6-C334-808F-6B53-F3A9E54FF8B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" name="Google Shape;86;p2:notes">
            <a:extLst>
              <a:ext uri="{FF2B5EF4-FFF2-40B4-BE49-F238E27FC236}">
                <a16:creationId xmlns:a16="http://schemas.microsoft.com/office/drawing/2014/main" id="{7F06E950-CF84-2640-8666-D24F9BB2F3C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58010192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>
          <a:extLst>
            <a:ext uri="{FF2B5EF4-FFF2-40B4-BE49-F238E27FC236}">
              <a16:creationId xmlns:a16="http://schemas.microsoft.com/office/drawing/2014/main" id="{0675C957-BB3B-9DC8-9C7E-65926CA15F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2:notes">
            <a:extLst>
              <a:ext uri="{FF2B5EF4-FFF2-40B4-BE49-F238E27FC236}">
                <a16:creationId xmlns:a16="http://schemas.microsoft.com/office/drawing/2014/main" id="{43FD479B-EC5C-91FB-498B-E707DC04582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" name="Google Shape;86;p2:notes">
            <a:extLst>
              <a:ext uri="{FF2B5EF4-FFF2-40B4-BE49-F238E27FC236}">
                <a16:creationId xmlns:a16="http://schemas.microsoft.com/office/drawing/2014/main" id="{C1FE052D-C32E-AC5A-B790-D060E9BFAB9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02201946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>
          <a:extLst>
            <a:ext uri="{FF2B5EF4-FFF2-40B4-BE49-F238E27FC236}">
              <a16:creationId xmlns:a16="http://schemas.microsoft.com/office/drawing/2014/main" id="{EC57CCF9-2C81-9935-F243-C907A333D0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2:notes">
            <a:extLst>
              <a:ext uri="{FF2B5EF4-FFF2-40B4-BE49-F238E27FC236}">
                <a16:creationId xmlns:a16="http://schemas.microsoft.com/office/drawing/2014/main" id="{60634DA4-21F0-2D0C-5DF2-B661B9D68D3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" name="Google Shape;86;p2:notes">
            <a:extLst>
              <a:ext uri="{FF2B5EF4-FFF2-40B4-BE49-F238E27FC236}">
                <a16:creationId xmlns:a16="http://schemas.microsoft.com/office/drawing/2014/main" id="{4D92D0D1-C322-1A9D-5898-499E0F4A7AE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70680531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>
          <a:extLst>
            <a:ext uri="{FF2B5EF4-FFF2-40B4-BE49-F238E27FC236}">
              <a16:creationId xmlns:a16="http://schemas.microsoft.com/office/drawing/2014/main" id="{6573CED4-0E25-ADB9-119D-36BDF2829F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2:notes">
            <a:extLst>
              <a:ext uri="{FF2B5EF4-FFF2-40B4-BE49-F238E27FC236}">
                <a16:creationId xmlns:a16="http://schemas.microsoft.com/office/drawing/2014/main" id="{665DA7DD-89AB-C19E-8F46-9297C6FA4F2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" name="Google Shape;86;p2:notes">
            <a:extLst>
              <a:ext uri="{FF2B5EF4-FFF2-40B4-BE49-F238E27FC236}">
                <a16:creationId xmlns:a16="http://schemas.microsoft.com/office/drawing/2014/main" id="{EF8A292C-4198-E7A7-8384-01304533120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56910812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>
          <a:extLst>
            <a:ext uri="{FF2B5EF4-FFF2-40B4-BE49-F238E27FC236}">
              <a16:creationId xmlns:a16="http://schemas.microsoft.com/office/drawing/2014/main" id="{0A56E7A4-77B6-0B78-F6F4-E88FBFFEAB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2:notes">
            <a:extLst>
              <a:ext uri="{FF2B5EF4-FFF2-40B4-BE49-F238E27FC236}">
                <a16:creationId xmlns:a16="http://schemas.microsoft.com/office/drawing/2014/main" id="{353236D8-DD1F-A9F8-9E45-97C81A367C8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" name="Google Shape;86;p2:notes">
            <a:extLst>
              <a:ext uri="{FF2B5EF4-FFF2-40B4-BE49-F238E27FC236}">
                <a16:creationId xmlns:a16="http://schemas.microsoft.com/office/drawing/2014/main" id="{4458C1BC-13E3-AB18-EF9A-DF563665F72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29772604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>
          <a:extLst>
            <a:ext uri="{FF2B5EF4-FFF2-40B4-BE49-F238E27FC236}">
              <a16:creationId xmlns:a16="http://schemas.microsoft.com/office/drawing/2014/main" id="{C766BC7F-4F8C-622E-5EA4-8C2E1B2B7B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2:notes">
            <a:extLst>
              <a:ext uri="{FF2B5EF4-FFF2-40B4-BE49-F238E27FC236}">
                <a16:creationId xmlns:a16="http://schemas.microsoft.com/office/drawing/2014/main" id="{1AE67247-A17C-7610-106C-89FF260BE6E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" name="Google Shape;86;p2:notes">
            <a:extLst>
              <a:ext uri="{FF2B5EF4-FFF2-40B4-BE49-F238E27FC236}">
                <a16:creationId xmlns:a16="http://schemas.microsoft.com/office/drawing/2014/main" id="{1833D3B8-0023-1A70-1E0F-BF9A361BEF9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56309230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>
  <p:cSld name="Title Slide">
    <p:bg>
      <p:bgPr>
        <a:solidFill>
          <a:srgbClr val="801B19"/>
        </a:solidFill>
        <a:effectLst/>
      </p:bgPr>
    </p:bg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2"/>
          <p:cNvSpPr txBox="1">
            <a:spLocks noGrp="1"/>
          </p:cNvSpPr>
          <p:nvPr>
            <p:ph type="title"/>
          </p:nvPr>
        </p:nvSpPr>
        <p:spPr>
          <a:xfrm>
            <a:off x="844150" y="3874808"/>
            <a:ext cx="10515600" cy="8354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1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Helvetica Neue"/>
              <a:buNone/>
              <a:defRPr sz="34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20" name="Google Shape;20;p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042932" y="1479396"/>
            <a:ext cx="4106136" cy="134772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Font typeface="Helvetica Neue"/>
              <a:buNone/>
              <a:defRPr sz="54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3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Helvetica Neue Light"/>
              <a:buNone/>
              <a:defRPr sz="2000" b="0" i="0">
                <a:solidFill>
                  <a:srgbClr val="888888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Helvetica Neue Light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Helvetica Neue Light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Helvetica Neue Light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Helvetica Neue Light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4" name="Google Shape;24;p3"/>
          <p:cNvSpPr txBox="1">
            <a:spLocks noGrp="1"/>
          </p:cNvSpPr>
          <p:nvPr>
            <p:ph type="sldNum" idx="12"/>
          </p:nvPr>
        </p:nvSpPr>
        <p:spPr>
          <a:xfrm>
            <a:off x="10802678" y="6284675"/>
            <a:ext cx="551121" cy="3774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marL="0" lvl="1" indent="0" algn="r">
              <a:spcBef>
                <a:spcPts val="0"/>
              </a:spcBef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marL="0" lvl="2" indent="0" algn="r">
              <a:spcBef>
                <a:spcPts val="0"/>
              </a:spcBef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marL="0" lvl="3" indent="0" algn="r">
              <a:spcBef>
                <a:spcPts val="0"/>
              </a:spcBef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marL="0" lvl="4" indent="0" algn="r">
              <a:spcBef>
                <a:spcPts val="0"/>
              </a:spcBef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marL="0" lvl="5" indent="0" algn="r">
              <a:spcBef>
                <a:spcPts val="0"/>
              </a:spcBef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marL="0" lvl="6" indent="0" algn="r">
              <a:spcBef>
                <a:spcPts val="0"/>
              </a:spcBef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marL="0" lvl="7" indent="0" algn="r">
              <a:spcBef>
                <a:spcPts val="0"/>
              </a:spcBef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marL="0" lvl="8" indent="0" algn="r">
              <a:spcBef>
                <a:spcPts val="0"/>
              </a:spcBef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|</a:t>
            </a:r>
            <a:r>
              <a:rPr lang="en-US" b="0"/>
              <a:t>  </a:t>
            </a:r>
            <a:fld id="{00000000-1234-1234-1234-123412341234}" type="slidenum">
              <a:rPr lang="en-US" b="0"/>
              <a:t>‹#›</a:t>
            </a:fld>
            <a:endParaRPr b="0"/>
          </a:p>
        </p:txBody>
      </p:sp>
      <p:sp>
        <p:nvSpPr>
          <p:cNvPr id="25" name="Google Shape;25;p3"/>
          <p:cNvSpPr txBox="1">
            <a:spLocks noGrp="1"/>
          </p:cNvSpPr>
          <p:nvPr>
            <p:ph type="dt" idx="10"/>
          </p:nvPr>
        </p:nvSpPr>
        <p:spPr>
          <a:xfrm>
            <a:off x="7924800" y="6284674"/>
            <a:ext cx="2877878" cy="3774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26" name="Google Shape;26;p3"/>
          <p:cNvPicPr preferRelativeResize="0"/>
          <p:nvPr/>
        </p:nvPicPr>
        <p:blipFill rotWithShape="1">
          <a:blip r:embed="rId2">
            <a:alphaModFix/>
          </a:blip>
          <a:srcRect l="29654" t="38312" r="29480" b="38397"/>
          <a:stretch/>
        </p:blipFill>
        <p:spPr>
          <a:xfrm>
            <a:off x="358814" y="6038948"/>
            <a:ext cx="1365812" cy="5989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6" name="Google Shape;36;p5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7" name="Google Shape;37;p5"/>
          <p:cNvSpPr txBox="1">
            <a:spLocks noGrp="1"/>
          </p:cNvSpPr>
          <p:nvPr>
            <p:ph type="sldNum" idx="12"/>
          </p:nvPr>
        </p:nvSpPr>
        <p:spPr>
          <a:xfrm>
            <a:off x="10802678" y="6284675"/>
            <a:ext cx="551121" cy="3774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marL="0" lvl="1" indent="0" algn="r">
              <a:spcBef>
                <a:spcPts val="0"/>
              </a:spcBef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marL="0" lvl="2" indent="0" algn="r">
              <a:spcBef>
                <a:spcPts val="0"/>
              </a:spcBef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marL="0" lvl="3" indent="0" algn="r">
              <a:spcBef>
                <a:spcPts val="0"/>
              </a:spcBef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marL="0" lvl="4" indent="0" algn="r">
              <a:spcBef>
                <a:spcPts val="0"/>
              </a:spcBef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marL="0" lvl="5" indent="0" algn="r">
              <a:spcBef>
                <a:spcPts val="0"/>
              </a:spcBef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marL="0" lvl="6" indent="0" algn="r">
              <a:spcBef>
                <a:spcPts val="0"/>
              </a:spcBef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marL="0" lvl="7" indent="0" algn="r">
              <a:spcBef>
                <a:spcPts val="0"/>
              </a:spcBef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marL="0" lvl="8" indent="0" algn="r">
              <a:spcBef>
                <a:spcPts val="0"/>
              </a:spcBef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|</a:t>
            </a:r>
            <a:r>
              <a:rPr lang="en-US" b="0"/>
              <a:t>  </a:t>
            </a:r>
            <a:fld id="{00000000-1234-1234-1234-123412341234}" type="slidenum">
              <a:rPr lang="en-US" b="0"/>
              <a:t>‹#›</a:t>
            </a:fld>
            <a:endParaRPr b="0"/>
          </a:p>
        </p:txBody>
      </p:sp>
      <p:sp>
        <p:nvSpPr>
          <p:cNvPr id="38" name="Google Shape;38;p5"/>
          <p:cNvSpPr txBox="1">
            <a:spLocks noGrp="1"/>
          </p:cNvSpPr>
          <p:nvPr>
            <p:ph type="dt" idx="10"/>
          </p:nvPr>
        </p:nvSpPr>
        <p:spPr>
          <a:xfrm>
            <a:off x="7924800" y="6284674"/>
            <a:ext cx="2877878" cy="3774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39" name="Google Shape;39;p5"/>
          <p:cNvPicPr preferRelativeResize="0"/>
          <p:nvPr/>
        </p:nvPicPr>
        <p:blipFill rotWithShape="1">
          <a:blip r:embed="rId2">
            <a:alphaModFix/>
          </a:blip>
          <a:srcRect l="29654" t="38312" r="29480" b="38397"/>
          <a:stretch/>
        </p:blipFill>
        <p:spPr>
          <a:xfrm>
            <a:off x="358814" y="6038948"/>
            <a:ext cx="1365812" cy="5989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6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 Light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 Light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 Light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 Light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 Light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6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4" name="Google Shape;44;p6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 Light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 Light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 Light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 Light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 Light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6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6"/>
          <p:cNvSpPr txBox="1">
            <a:spLocks noGrp="1"/>
          </p:cNvSpPr>
          <p:nvPr>
            <p:ph type="sldNum" idx="12"/>
          </p:nvPr>
        </p:nvSpPr>
        <p:spPr>
          <a:xfrm>
            <a:off x="10802678" y="6284675"/>
            <a:ext cx="551121" cy="3774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marL="0" lvl="1" indent="0" algn="r">
              <a:spcBef>
                <a:spcPts val="0"/>
              </a:spcBef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marL="0" lvl="2" indent="0" algn="r">
              <a:spcBef>
                <a:spcPts val="0"/>
              </a:spcBef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marL="0" lvl="3" indent="0" algn="r">
              <a:spcBef>
                <a:spcPts val="0"/>
              </a:spcBef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marL="0" lvl="4" indent="0" algn="r">
              <a:spcBef>
                <a:spcPts val="0"/>
              </a:spcBef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marL="0" lvl="5" indent="0" algn="r">
              <a:spcBef>
                <a:spcPts val="0"/>
              </a:spcBef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marL="0" lvl="6" indent="0" algn="r">
              <a:spcBef>
                <a:spcPts val="0"/>
              </a:spcBef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marL="0" lvl="7" indent="0" algn="r">
              <a:spcBef>
                <a:spcPts val="0"/>
              </a:spcBef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marL="0" lvl="8" indent="0" algn="r">
              <a:spcBef>
                <a:spcPts val="0"/>
              </a:spcBef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|</a:t>
            </a:r>
            <a:r>
              <a:rPr lang="en-US" b="0"/>
              <a:t>  </a:t>
            </a:r>
            <a:fld id="{00000000-1234-1234-1234-123412341234}" type="slidenum">
              <a:rPr lang="en-US" b="0"/>
              <a:t>‹#›</a:t>
            </a:fld>
            <a:endParaRPr b="0"/>
          </a:p>
        </p:txBody>
      </p:sp>
      <p:sp>
        <p:nvSpPr>
          <p:cNvPr id="47" name="Google Shape;47;p6"/>
          <p:cNvSpPr txBox="1">
            <a:spLocks noGrp="1"/>
          </p:cNvSpPr>
          <p:nvPr>
            <p:ph type="dt" idx="10"/>
          </p:nvPr>
        </p:nvSpPr>
        <p:spPr>
          <a:xfrm>
            <a:off x="7924800" y="6284674"/>
            <a:ext cx="2877878" cy="3774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48" name="Google Shape;48;p6"/>
          <p:cNvPicPr preferRelativeResize="0"/>
          <p:nvPr/>
        </p:nvPicPr>
        <p:blipFill rotWithShape="1">
          <a:blip r:embed="rId2">
            <a:alphaModFix/>
          </a:blip>
          <a:srcRect l="29654" t="38312" r="29480" b="38397"/>
          <a:stretch/>
        </p:blipFill>
        <p:spPr>
          <a:xfrm>
            <a:off x="358814" y="6038948"/>
            <a:ext cx="1365812" cy="5989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Helvetica Neue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7"/>
          <p:cNvSpPr txBox="1">
            <a:spLocks noGrp="1"/>
          </p:cNvSpPr>
          <p:nvPr>
            <p:ph type="sldNum" idx="12"/>
          </p:nvPr>
        </p:nvSpPr>
        <p:spPr>
          <a:xfrm>
            <a:off x="10802678" y="6284675"/>
            <a:ext cx="551121" cy="3774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marL="0" lvl="1" indent="0" algn="r">
              <a:spcBef>
                <a:spcPts val="0"/>
              </a:spcBef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marL="0" lvl="2" indent="0" algn="r">
              <a:spcBef>
                <a:spcPts val="0"/>
              </a:spcBef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marL="0" lvl="3" indent="0" algn="r">
              <a:spcBef>
                <a:spcPts val="0"/>
              </a:spcBef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marL="0" lvl="4" indent="0" algn="r">
              <a:spcBef>
                <a:spcPts val="0"/>
              </a:spcBef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marL="0" lvl="5" indent="0" algn="r">
              <a:spcBef>
                <a:spcPts val="0"/>
              </a:spcBef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marL="0" lvl="6" indent="0" algn="r">
              <a:spcBef>
                <a:spcPts val="0"/>
              </a:spcBef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marL="0" lvl="7" indent="0" algn="r">
              <a:spcBef>
                <a:spcPts val="0"/>
              </a:spcBef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marL="0" lvl="8" indent="0" algn="r">
              <a:spcBef>
                <a:spcPts val="0"/>
              </a:spcBef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|</a:t>
            </a:r>
            <a:r>
              <a:rPr lang="en-US" b="0"/>
              <a:t>  </a:t>
            </a:r>
            <a:fld id="{00000000-1234-1234-1234-123412341234}" type="slidenum">
              <a:rPr lang="en-US" b="0"/>
              <a:t>‹#›</a:t>
            </a:fld>
            <a:endParaRPr b="0"/>
          </a:p>
        </p:txBody>
      </p:sp>
      <p:sp>
        <p:nvSpPr>
          <p:cNvPr id="52" name="Google Shape;52;p7"/>
          <p:cNvSpPr txBox="1">
            <a:spLocks noGrp="1"/>
          </p:cNvSpPr>
          <p:nvPr>
            <p:ph type="dt" idx="10"/>
          </p:nvPr>
        </p:nvSpPr>
        <p:spPr>
          <a:xfrm>
            <a:off x="7924800" y="6284674"/>
            <a:ext cx="2877878" cy="3774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53" name="Google Shape;53;p7"/>
          <p:cNvPicPr preferRelativeResize="0"/>
          <p:nvPr/>
        </p:nvPicPr>
        <p:blipFill rotWithShape="1">
          <a:blip r:embed="rId2">
            <a:alphaModFix/>
          </a:blip>
          <a:srcRect l="29654" t="38312" r="29480" b="38397"/>
          <a:stretch/>
        </p:blipFill>
        <p:spPr>
          <a:xfrm>
            <a:off x="358814" y="6038948"/>
            <a:ext cx="1365812" cy="5989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8"/>
          <p:cNvSpPr txBox="1">
            <a:spLocks noGrp="1"/>
          </p:cNvSpPr>
          <p:nvPr>
            <p:ph type="sldNum" idx="12"/>
          </p:nvPr>
        </p:nvSpPr>
        <p:spPr>
          <a:xfrm>
            <a:off x="10802678" y="6284675"/>
            <a:ext cx="551121" cy="3774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marL="0" lvl="1" indent="0" algn="r">
              <a:spcBef>
                <a:spcPts val="0"/>
              </a:spcBef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marL="0" lvl="2" indent="0" algn="r">
              <a:spcBef>
                <a:spcPts val="0"/>
              </a:spcBef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marL="0" lvl="3" indent="0" algn="r">
              <a:spcBef>
                <a:spcPts val="0"/>
              </a:spcBef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marL="0" lvl="4" indent="0" algn="r">
              <a:spcBef>
                <a:spcPts val="0"/>
              </a:spcBef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marL="0" lvl="5" indent="0" algn="r">
              <a:spcBef>
                <a:spcPts val="0"/>
              </a:spcBef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marL="0" lvl="6" indent="0" algn="r">
              <a:spcBef>
                <a:spcPts val="0"/>
              </a:spcBef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marL="0" lvl="7" indent="0" algn="r">
              <a:spcBef>
                <a:spcPts val="0"/>
              </a:spcBef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marL="0" lvl="8" indent="0" algn="r">
              <a:spcBef>
                <a:spcPts val="0"/>
              </a:spcBef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|</a:t>
            </a:r>
            <a:r>
              <a:rPr lang="en-US" b="0"/>
              <a:t>  </a:t>
            </a:r>
            <a:fld id="{00000000-1234-1234-1234-123412341234}" type="slidenum">
              <a:rPr lang="en-US" b="0"/>
              <a:t>‹#›</a:t>
            </a:fld>
            <a:endParaRPr b="0"/>
          </a:p>
        </p:txBody>
      </p:sp>
      <p:sp>
        <p:nvSpPr>
          <p:cNvPr id="56" name="Google Shape;56;p8"/>
          <p:cNvSpPr txBox="1">
            <a:spLocks noGrp="1"/>
          </p:cNvSpPr>
          <p:nvPr>
            <p:ph type="dt" idx="10"/>
          </p:nvPr>
        </p:nvSpPr>
        <p:spPr>
          <a:xfrm>
            <a:off x="7924800" y="6284674"/>
            <a:ext cx="2877878" cy="3774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57" name="Google Shape;57;p8"/>
          <p:cNvPicPr preferRelativeResize="0"/>
          <p:nvPr/>
        </p:nvPicPr>
        <p:blipFill rotWithShape="1">
          <a:blip r:embed="rId2">
            <a:alphaModFix/>
          </a:blip>
          <a:srcRect l="29654" t="38312" r="29480" b="38397"/>
          <a:stretch/>
        </p:blipFill>
        <p:spPr>
          <a:xfrm>
            <a:off x="358814" y="6038948"/>
            <a:ext cx="1365812" cy="5989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9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Helvetica Neue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Helvetica Neue Light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elvetica Neue Light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 Light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 Light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 Light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1" name="Google Shape;61;p9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 Light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elvetica Neue Light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elvetica Neue Light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elvetica Neue Light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elvetica Neue Light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2" name="Google Shape;62;p9"/>
          <p:cNvSpPr txBox="1">
            <a:spLocks noGrp="1"/>
          </p:cNvSpPr>
          <p:nvPr>
            <p:ph type="sldNum" idx="12"/>
          </p:nvPr>
        </p:nvSpPr>
        <p:spPr>
          <a:xfrm>
            <a:off x="10802678" y="6284675"/>
            <a:ext cx="551121" cy="3774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marL="0" lvl="1" indent="0" algn="r">
              <a:spcBef>
                <a:spcPts val="0"/>
              </a:spcBef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marL="0" lvl="2" indent="0" algn="r">
              <a:spcBef>
                <a:spcPts val="0"/>
              </a:spcBef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marL="0" lvl="3" indent="0" algn="r">
              <a:spcBef>
                <a:spcPts val="0"/>
              </a:spcBef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marL="0" lvl="4" indent="0" algn="r">
              <a:spcBef>
                <a:spcPts val="0"/>
              </a:spcBef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marL="0" lvl="5" indent="0" algn="r">
              <a:spcBef>
                <a:spcPts val="0"/>
              </a:spcBef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marL="0" lvl="6" indent="0" algn="r">
              <a:spcBef>
                <a:spcPts val="0"/>
              </a:spcBef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marL="0" lvl="7" indent="0" algn="r">
              <a:spcBef>
                <a:spcPts val="0"/>
              </a:spcBef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marL="0" lvl="8" indent="0" algn="r">
              <a:spcBef>
                <a:spcPts val="0"/>
              </a:spcBef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|</a:t>
            </a:r>
            <a:r>
              <a:rPr lang="en-US" b="0"/>
              <a:t>  </a:t>
            </a:r>
            <a:fld id="{00000000-1234-1234-1234-123412341234}" type="slidenum">
              <a:rPr lang="en-US" b="0"/>
              <a:t>‹#›</a:t>
            </a:fld>
            <a:endParaRPr b="0"/>
          </a:p>
        </p:txBody>
      </p:sp>
      <p:sp>
        <p:nvSpPr>
          <p:cNvPr id="63" name="Google Shape;63;p9"/>
          <p:cNvSpPr txBox="1">
            <a:spLocks noGrp="1"/>
          </p:cNvSpPr>
          <p:nvPr>
            <p:ph type="dt" idx="10"/>
          </p:nvPr>
        </p:nvSpPr>
        <p:spPr>
          <a:xfrm>
            <a:off x="7924800" y="6284674"/>
            <a:ext cx="2877878" cy="3774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64" name="Google Shape;64;p9"/>
          <p:cNvPicPr preferRelativeResize="0"/>
          <p:nvPr/>
        </p:nvPicPr>
        <p:blipFill rotWithShape="1">
          <a:blip r:embed="rId2">
            <a:alphaModFix/>
          </a:blip>
          <a:srcRect l="29654" t="38312" r="29480" b="38397"/>
          <a:stretch/>
        </p:blipFill>
        <p:spPr>
          <a:xfrm>
            <a:off x="358814" y="6038948"/>
            <a:ext cx="1365812" cy="5989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0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Helvetica Neue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0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 Light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elvetica Neue Light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elvetica Neue Light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elvetica Neue Light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elvetica Neue Light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9" name="Google Shape;69;p10"/>
          <p:cNvSpPr txBox="1">
            <a:spLocks noGrp="1"/>
          </p:cNvSpPr>
          <p:nvPr>
            <p:ph type="sldNum" idx="12"/>
          </p:nvPr>
        </p:nvSpPr>
        <p:spPr>
          <a:xfrm>
            <a:off x="10802678" y="6284675"/>
            <a:ext cx="551121" cy="3774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marL="0" lvl="1" indent="0" algn="r">
              <a:spcBef>
                <a:spcPts val="0"/>
              </a:spcBef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marL="0" lvl="2" indent="0" algn="r">
              <a:spcBef>
                <a:spcPts val="0"/>
              </a:spcBef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marL="0" lvl="3" indent="0" algn="r">
              <a:spcBef>
                <a:spcPts val="0"/>
              </a:spcBef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marL="0" lvl="4" indent="0" algn="r">
              <a:spcBef>
                <a:spcPts val="0"/>
              </a:spcBef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marL="0" lvl="5" indent="0" algn="r">
              <a:spcBef>
                <a:spcPts val="0"/>
              </a:spcBef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marL="0" lvl="6" indent="0" algn="r">
              <a:spcBef>
                <a:spcPts val="0"/>
              </a:spcBef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marL="0" lvl="7" indent="0" algn="r">
              <a:spcBef>
                <a:spcPts val="0"/>
              </a:spcBef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marL="0" lvl="8" indent="0" algn="r">
              <a:spcBef>
                <a:spcPts val="0"/>
              </a:spcBef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|</a:t>
            </a:r>
            <a:r>
              <a:rPr lang="en-US" b="0"/>
              <a:t>  </a:t>
            </a:r>
            <a:fld id="{00000000-1234-1234-1234-123412341234}" type="slidenum">
              <a:rPr lang="en-US" b="0"/>
              <a:t>‹#›</a:t>
            </a:fld>
            <a:endParaRPr b="0"/>
          </a:p>
        </p:txBody>
      </p:sp>
      <p:sp>
        <p:nvSpPr>
          <p:cNvPr id="70" name="Google Shape;70;p10"/>
          <p:cNvSpPr txBox="1">
            <a:spLocks noGrp="1"/>
          </p:cNvSpPr>
          <p:nvPr>
            <p:ph type="dt" idx="10"/>
          </p:nvPr>
        </p:nvSpPr>
        <p:spPr>
          <a:xfrm>
            <a:off x="7924800" y="6284674"/>
            <a:ext cx="2877878" cy="3774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71" name="Google Shape;71;p10"/>
          <p:cNvPicPr preferRelativeResize="0"/>
          <p:nvPr/>
        </p:nvPicPr>
        <p:blipFill rotWithShape="1">
          <a:blip r:embed="rId2">
            <a:alphaModFix/>
          </a:blip>
          <a:srcRect l="29654" t="38312" r="29480" b="38397"/>
          <a:stretch/>
        </p:blipFill>
        <p:spPr>
          <a:xfrm>
            <a:off x="358814" y="6038948"/>
            <a:ext cx="1365812" cy="5989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Helvetica Neue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11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5" name="Google Shape;75;p11"/>
          <p:cNvSpPr txBox="1">
            <a:spLocks noGrp="1"/>
          </p:cNvSpPr>
          <p:nvPr>
            <p:ph type="sldNum" idx="12"/>
          </p:nvPr>
        </p:nvSpPr>
        <p:spPr>
          <a:xfrm>
            <a:off x="10802678" y="6284675"/>
            <a:ext cx="551121" cy="3774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marL="0" lvl="1" indent="0" algn="r">
              <a:spcBef>
                <a:spcPts val="0"/>
              </a:spcBef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marL="0" lvl="2" indent="0" algn="r">
              <a:spcBef>
                <a:spcPts val="0"/>
              </a:spcBef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marL="0" lvl="3" indent="0" algn="r">
              <a:spcBef>
                <a:spcPts val="0"/>
              </a:spcBef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marL="0" lvl="4" indent="0" algn="r">
              <a:spcBef>
                <a:spcPts val="0"/>
              </a:spcBef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marL="0" lvl="5" indent="0" algn="r">
              <a:spcBef>
                <a:spcPts val="0"/>
              </a:spcBef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marL="0" lvl="6" indent="0" algn="r">
              <a:spcBef>
                <a:spcPts val="0"/>
              </a:spcBef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marL="0" lvl="7" indent="0" algn="r">
              <a:spcBef>
                <a:spcPts val="0"/>
              </a:spcBef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marL="0" lvl="8" indent="0" algn="r">
              <a:spcBef>
                <a:spcPts val="0"/>
              </a:spcBef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|</a:t>
            </a:r>
            <a:r>
              <a:rPr lang="en-US" b="0"/>
              <a:t>  </a:t>
            </a:r>
            <a:fld id="{00000000-1234-1234-1234-123412341234}" type="slidenum">
              <a:rPr lang="en-US" b="0"/>
              <a:t>‹#›</a:t>
            </a:fld>
            <a:endParaRPr b="0"/>
          </a:p>
        </p:txBody>
      </p:sp>
      <p:sp>
        <p:nvSpPr>
          <p:cNvPr id="76" name="Google Shape;76;p11"/>
          <p:cNvSpPr txBox="1">
            <a:spLocks noGrp="1"/>
          </p:cNvSpPr>
          <p:nvPr>
            <p:ph type="dt" idx="10"/>
          </p:nvPr>
        </p:nvSpPr>
        <p:spPr>
          <a:xfrm>
            <a:off x="7924800" y="6284674"/>
            <a:ext cx="2877878" cy="3774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77" name="Google Shape;77;p11"/>
          <p:cNvPicPr preferRelativeResize="0"/>
          <p:nvPr/>
        </p:nvPicPr>
        <p:blipFill rotWithShape="1">
          <a:blip r:embed="rId2">
            <a:alphaModFix/>
          </a:blip>
          <a:srcRect l="29654" t="38312" r="29480" b="38397"/>
          <a:stretch/>
        </p:blipFill>
        <p:spPr>
          <a:xfrm>
            <a:off x="358814" y="6038948"/>
            <a:ext cx="1365812" cy="5989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2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Helvetica Neue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12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1" name="Google Shape;81;p12"/>
          <p:cNvSpPr txBox="1">
            <a:spLocks noGrp="1"/>
          </p:cNvSpPr>
          <p:nvPr>
            <p:ph type="sldNum" idx="12"/>
          </p:nvPr>
        </p:nvSpPr>
        <p:spPr>
          <a:xfrm>
            <a:off x="10802678" y="6284675"/>
            <a:ext cx="551121" cy="3774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marL="0" lvl="1" indent="0" algn="r">
              <a:spcBef>
                <a:spcPts val="0"/>
              </a:spcBef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marL="0" lvl="2" indent="0" algn="r">
              <a:spcBef>
                <a:spcPts val="0"/>
              </a:spcBef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marL="0" lvl="3" indent="0" algn="r">
              <a:spcBef>
                <a:spcPts val="0"/>
              </a:spcBef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marL="0" lvl="4" indent="0" algn="r">
              <a:spcBef>
                <a:spcPts val="0"/>
              </a:spcBef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marL="0" lvl="5" indent="0" algn="r">
              <a:spcBef>
                <a:spcPts val="0"/>
              </a:spcBef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marL="0" lvl="6" indent="0" algn="r">
              <a:spcBef>
                <a:spcPts val="0"/>
              </a:spcBef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marL="0" lvl="7" indent="0" algn="r">
              <a:spcBef>
                <a:spcPts val="0"/>
              </a:spcBef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marL="0" lvl="8" indent="0" algn="r">
              <a:spcBef>
                <a:spcPts val="0"/>
              </a:spcBef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|</a:t>
            </a:r>
            <a:r>
              <a:rPr lang="en-US" b="0"/>
              <a:t>  </a:t>
            </a:r>
            <a:fld id="{00000000-1234-1234-1234-123412341234}" type="slidenum">
              <a:rPr lang="en-US" b="0"/>
              <a:t>‹#›</a:t>
            </a:fld>
            <a:endParaRPr b="0"/>
          </a:p>
        </p:txBody>
      </p:sp>
      <p:sp>
        <p:nvSpPr>
          <p:cNvPr id="82" name="Google Shape;82;p12"/>
          <p:cNvSpPr txBox="1">
            <a:spLocks noGrp="1"/>
          </p:cNvSpPr>
          <p:nvPr>
            <p:ph type="dt" idx="10"/>
          </p:nvPr>
        </p:nvSpPr>
        <p:spPr>
          <a:xfrm>
            <a:off x="7924800" y="6284674"/>
            <a:ext cx="2877878" cy="3774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83" name="Google Shape;83;p12"/>
          <p:cNvPicPr preferRelativeResize="0"/>
          <p:nvPr/>
        </p:nvPicPr>
        <p:blipFill rotWithShape="1">
          <a:blip r:embed="rId2">
            <a:alphaModFix/>
          </a:blip>
          <a:srcRect l="29654" t="38312" r="29480" b="38397"/>
          <a:stretch/>
        </p:blipFill>
        <p:spPr>
          <a:xfrm>
            <a:off x="358814" y="6038948"/>
            <a:ext cx="1365812" cy="5989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2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Helvetica Neue"/>
              <a:buNone/>
              <a:defRPr sz="40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elvetica Neue Light"/>
              <a:buChar char="•"/>
              <a:defRPr sz="2800" b="0" i="0" u="none" strike="noStrike" cap="none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 Light"/>
              <a:buChar char="•"/>
              <a:defRPr sz="2400" b="0" i="0" u="none" strike="noStrike" cap="none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 Light"/>
              <a:buChar char="•"/>
              <a:defRPr sz="2000" b="0" i="0" u="none" strike="noStrike" cap="none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 Light"/>
              <a:buChar char="•"/>
              <a:defRPr sz="1800" b="0" i="0" u="none" strike="noStrike" cap="none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 Light"/>
              <a:buChar char="•"/>
              <a:defRPr sz="1800" b="0" i="0" u="none" strike="noStrike" cap="none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grpSp>
        <p:nvGrpSpPr>
          <p:cNvPr id="12" name="Google Shape;12;p1"/>
          <p:cNvGrpSpPr/>
          <p:nvPr/>
        </p:nvGrpSpPr>
        <p:grpSpPr>
          <a:xfrm>
            <a:off x="0" y="6756400"/>
            <a:ext cx="12192000" cy="105496"/>
            <a:chOff x="0" y="6756400"/>
            <a:chExt cx="12192000" cy="105496"/>
          </a:xfrm>
        </p:grpSpPr>
        <p:pic>
          <p:nvPicPr>
            <p:cNvPr id="13" name="Google Shape;13;p1"/>
            <p:cNvPicPr preferRelativeResize="0"/>
            <p:nvPr/>
          </p:nvPicPr>
          <p:blipFill rotWithShape="1">
            <a:blip r:embed="rId12">
              <a:alphaModFix/>
            </a:blip>
            <a:srcRect/>
            <a:stretch/>
          </p:blipFill>
          <p:spPr>
            <a:xfrm>
              <a:off x="1524000" y="6756400"/>
              <a:ext cx="9144000" cy="1016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" name="Google Shape;14;p1"/>
            <p:cNvPicPr preferRelativeResize="0"/>
            <p:nvPr/>
          </p:nvPicPr>
          <p:blipFill rotWithShape="1">
            <a:blip r:embed="rId12">
              <a:alphaModFix/>
            </a:blip>
            <a:srcRect r="71580" b="15585"/>
            <a:stretch/>
          </p:blipFill>
          <p:spPr>
            <a:xfrm>
              <a:off x="0" y="6756400"/>
              <a:ext cx="2598717" cy="1016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" name="Google Shape;15;p1"/>
            <p:cNvPicPr preferRelativeResize="0"/>
            <p:nvPr/>
          </p:nvPicPr>
          <p:blipFill rotWithShape="1">
            <a:blip r:embed="rId12">
              <a:alphaModFix/>
            </a:blip>
            <a:srcRect r="71580" b="15585"/>
            <a:stretch/>
          </p:blipFill>
          <p:spPr>
            <a:xfrm>
              <a:off x="9593283" y="6756400"/>
              <a:ext cx="2598717" cy="105496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6" name="Google Shape;16;p1"/>
          <p:cNvSpPr txBox="1">
            <a:spLocks noGrp="1"/>
          </p:cNvSpPr>
          <p:nvPr>
            <p:ph type="sldNum" idx="12"/>
          </p:nvPr>
        </p:nvSpPr>
        <p:spPr>
          <a:xfrm>
            <a:off x="10802678" y="6284675"/>
            <a:ext cx="551121" cy="3774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|</a:t>
            </a:r>
            <a:r>
              <a:rPr lang="en-US" b="0"/>
              <a:t>  </a:t>
            </a:r>
            <a:fld id="{00000000-1234-1234-1234-123412341234}" type="slidenum">
              <a:rPr lang="en-US" b="0"/>
              <a:t>‹#›</a:t>
            </a:fld>
            <a:endParaRPr b="0"/>
          </a:p>
        </p:txBody>
      </p:sp>
      <p:sp>
        <p:nvSpPr>
          <p:cNvPr id="17" name="Google Shape;17;p1"/>
          <p:cNvSpPr txBox="1">
            <a:spLocks noGrp="1"/>
          </p:cNvSpPr>
          <p:nvPr>
            <p:ph type="dt" idx="10"/>
          </p:nvPr>
        </p:nvSpPr>
        <p:spPr>
          <a:xfrm>
            <a:off x="7924800" y="6284674"/>
            <a:ext cx="2877878" cy="3774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3"/>
          <p:cNvSpPr txBox="1">
            <a:spLocks noGrp="1"/>
          </p:cNvSpPr>
          <p:nvPr>
            <p:ph type="title"/>
          </p:nvPr>
        </p:nvSpPr>
        <p:spPr>
          <a:xfrm>
            <a:off x="882025" y="3135958"/>
            <a:ext cx="10515600" cy="83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1">
            <a:noAutofit/>
          </a:bodyPr>
          <a:lstStyle/>
          <a:p>
            <a:pPr lvl="0">
              <a:buClr>
                <a:schemeClr val="dk1"/>
              </a:buClr>
              <a:buSzPts val="1100"/>
            </a:pPr>
            <a:r>
              <a:rPr lang="en-US" sz="4400"/>
              <a:t>Probabilistic Modeling of Network Congestion and Queue Delay</a:t>
            </a:r>
            <a:endParaRPr sz="4300"/>
          </a:p>
        </p:txBody>
      </p:sp>
      <p:sp>
        <p:nvSpPr>
          <p:cNvPr id="89" name="Google Shape;89;p13"/>
          <p:cNvSpPr txBox="1"/>
          <p:nvPr/>
        </p:nvSpPr>
        <p:spPr>
          <a:xfrm>
            <a:off x="882025" y="4379375"/>
            <a:ext cx="5456100" cy="147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lt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Section 2 Group -7 </a:t>
            </a:r>
            <a:endParaRPr sz="2800">
              <a:solidFill>
                <a:schemeClr val="lt1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lt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Milestone -3</a:t>
            </a:r>
            <a:endParaRPr sz="2800">
              <a:solidFill>
                <a:schemeClr val="lt1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800">
              <a:solidFill>
                <a:schemeClr val="lt1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sp>
        <p:nvSpPr>
          <p:cNvPr id="90" name="Google Shape;90;p13"/>
          <p:cNvSpPr txBox="1"/>
          <p:nvPr/>
        </p:nvSpPr>
        <p:spPr>
          <a:xfrm>
            <a:off x="8556482" y="5868450"/>
            <a:ext cx="3635517" cy="8001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lt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Tanmay Kanani - AU2440234</a:t>
            </a:r>
            <a:endParaRPr sz="2000">
              <a:solidFill>
                <a:schemeClr val="lt1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lt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Krisha Desai – AU2440103</a:t>
            </a:r>
            <a:endParaRPr sz="2000">
              <a:solidFill>
                <a:schemeClr val="lt1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48955"/>
    </mc:Choice>
    <mc:Fallback>
      <p:transition spd="slow" advTm="48955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3"/>
          <p:cNvSpPr txBox="1">
            <a:spLocks noGrp="1"/>
          </p:cNvSpPr>
          <p:nvPr>
            <p:ph type="title"/>
          </p:nvPr>
        </p:nvSpPr>
        <p:spPr>
          <a:xfrm>
            <a:off x="630566" y="-219662"/>
            <a:ext cx="10515600" cy="1998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lvl="0"/>
            <a:r>
              <a:rPr lang="en-IN">
                <a:latin typeface="Helvetica Neue Light"/>
              </a:rPr>
              <a:t>Project Context and Motivation</a:t>
            </a:r>
            <a:endParaRPr lang="en-US">
              <a:latin typeface="Helvetica Neue Light"/>
            </a:endParaRPr>
          </a:p>
        </p:txBody>
      </p:sp>
      <p:sp>
        <p:nvSpPr>
          <p:cNvPr id="90" name="Google Shape;90;p13"/>
          <p:cNvSpPr txBox="1">
            <a:spLocks noGrp="1"/>
          </p:cNvSpPr>
          <p:nvPr>
            <p:ph type="sldNum" idx="12"/>
          </p:nvPr>
        </p:nvSpPr>
        <p:spPr>
          <a:xfrm>
            <a:off x="10976298" y="6135075"/>
            <a:ext cx="551121" cy="3774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/>
              <a:t>|</a:t>
            </a:r>
            <a:r>
              <a:rPr lang="en-US"/>
              <a:t>  </a:t>
            </a:r>
            <a:fld id="{00000000-1234-1234-1234-123412341234}" type="slidenum">
              <a:rPr lang="en-US"/>
              <a:t>2</a:t>
            </a:fld>
            <a:endParaRPr/>
          </a:p>
        </p:txBody>
      </p:sp>
      <p:sp>
        <p:nvSpPr>
          <p:cNvPr id="91" name="Google Shape;91;p13"/>
          <p:cNvSpPr txBox="1">
            <a:spLocks noGrp="1"/>
          </p:cNvSpPr>
          <p:nvPr>
            <p:ph type="dt" idx="10"/>
          </p:nvPr>
        </p:nvSpPr>
        <p:spPr>
          <a:xfrm>
            <a:off x="8098420" y="6135074"/>
            <a:ext cx="2877878" cy="3774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09/03/26</a:t>
            </a:r>
            <a:endParaRPr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3EBDFD2-3533-4018-2638-86C8A626E6A3}"/>
              </a:ext>
            </a:extLst>
          </p:cNvPr>
          <p:cNvSpPr txBox="1"/>
          <p:nvPr/>
        </p:nvSpPr>
        <p:spPr>
          <a:xfrm>
            <a:off x="630566" y="3429000"/>
            <a:ext cx="105156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>
                <a:latin typeface="Helvetica Neue Light" panose="020B0604020202020204" charset="0"/>
              </a:rPr>
              <a:t>Why Uncertainty Exists: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Multiple packets move through the network at the same time.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Queue length at each node changes dynamically.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Waiting time depends on the current queue size and service rate.</a:t>
            </a:r>
            <a:endParaRPr lang="en-IN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A1A429F-675D-A5AD-2A6B-2620A003C13D}"/>
              </a:ext>
            </a:extLst>
          </p:cNvPr>
          <p:cNvSpPr txBox="1"/>
          <p:nvPr/>
        </p:nvSpPr>
        <p:spPr>
          <a:xfrm>
            <a:off x="630566" y="1966452"/>
            <a:ext cx="10515600" cy="13788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lnSpc>
                <a:spcPct val="90000"/>
              </a:lnSpc>
              <a:spcBef>
                <a:spcPts val="1000"/>
              </a:spcBef>
              <a:buClr>
                <a:srgbClr val="888888"/>
              </a:buClr>
              <a:buSzPct val="100000"/>
            </a:pPr>
            <a:r>
              <a:rPr lang="en-IN" sz="2400" b="1">
                <a:solidFill>
                  <a:schemeClr val="tx1"/>
                </a:solidFill>
                <a:latin typeface="Helvetica Neue Light" panose="020B0604020202020204" charset="0"/>
              </a:rPr>
              <a:t>Context:</a:t>
            </a:r>
          </a:p>
          <a:p>
            <a:pPr marL="285750" lvl="0" indent="-285750">
              <a:buSzPct val="100000"/>
              <a:buFont typeface="Arial" panose="020B0604020202020204" pitchFamily="34" charset="0"/>
              <a:buChar char="•"/>
            </a:pPr>
            <a:r>
              <a:rPr lang="en-US"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Network routing requires packets to travel through multiple intermediate nodes.</a:t>
            </a:r>
          </a:p>
          <a:p>
            <a:pPr marL="285750" lvl="0" indent="-285750">
              <a:buSzPct val="100000"/>
              <a:buFont typeface="Arial" panose="020B0604020202020204" pitchFamily="34" charset="0"/>
              <a:buChar char="•"/>
            </a:pPr>
            <a:r>
              <a:rPr lang="en-US"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When many packets arrive at nodes simultaneously, queues are formed.</a:t>
            </a:r>
          </a:p>
          <a:p>
            <a:pPr marL="0" lvl="0" indent="0">
              <a:buSzPct val="100000"/>
            </a:pPr>
            <a:endParaRPr lang="en-US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59042"/>
    </mc:Choice>
    <mc:Fallback>
      <p:transition spd="slow" advTm="59042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>
          <a:extLst>
            <a:ext uri="{FF2B5EF4-FFF2-40B4-BE49-F238E27FC236}">
              <a16:creationId xmlns:a16="http://schemas.microsoft.com/office/drawing/2014/main" id="{E487FC50-A694-551E-DF81-F7425D1E41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3">
            <a:extLst>
              <a:ext uri="{FF2B5EF4-FFF2-40B4-BE49-F238E27FC236}">
                <a16:creationId xmlns:a16="http://schemas.microsoft.com/office/drawing/2014/main" id="{628A31C3-0625-F3B4-3037-29F3BB76E74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30566" y="-219662"/>
            <a:ext cx="10515600" cy="1998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lvl="0">
              <a:spcBef>
                <a:spcPts val="1000"/>
              </a:spcBef>
              <a:buClr>
                <a:srgbClr val="888888"/>
              </a:buClr>
              <a:buSzPct val="100000"/>
            </a:pPr>
            <a:r>
              <a:rPr lang="en-IN">
                <a:latin typeface="Helvetica Neue Light"/>
              </a:rPr>
              <a:t>Project Objective and Deterministic Baseline</a:t>
            </a:r>
            <a:endParaRPr lang="en-US">
              <a:solidFill>
                <a:schemeClr val="tx1"/>
              </a:solidFill>
              <a:latin typeface="Helvetica Neue Light"/>
            </a:endParaRPr>
          </a:p>
        </p:txBody>
      </p:sp>
      <p:sp>
        <p:nvSpPr>
          <p:cNvPr id="90" name="Google Shape;90;p13">
            <a:extLst>
              <a:ext uri="{FF2B5EF4-FFF2-40B4-BE49-F238E27FC236}">
                <a16:creationId xmlns:a16="http://schemas.microsoft.com/office/drawing/2014/main" id="{F2324385-107E-C6A5-0164-7F42FFAC095D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0976298" y="6135075"/>
            <a:ext cx="551121" cy="3774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/>
              <a:t>|</a:t>
            </a:r>
            <a:r>
              <a:rPr lang="en-US"/>
              <a:t>  </a:t>
            </a:r>
            <a:fld id="{00000000-1234-1234-1234-123412341234}" type="slidenum">
              <a:rPr lang="en-US"/>
              <a:t>3</a:t>
            </a:fld>
            <a:endParaRPr/>
          </a:p>
        </p:txBody>
      </p:sp>
      <p:sp>
        <p:nvSpPr>
          <p:cNvPr id="91" name="Google Shape;91;p13">
            <a:extLst>
              <a:ext uri="{FF2B5EF4-FFF2-40B4-BE49-F238E27FC236}">
                <a16:creationId xmlns:a16="http://schemas.microsoft.com/office/drawing/2014/main" id="{6EC190C7-1409-6B0D-2636-6DC03BE82096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8098420" y="6135074"/>
            <a:ext cx="2877878" cy="3774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US"/>
              <a:t>09/03/26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7E2C8FB-3CA1-363E-78C4-CB52B4C3EA42}"/>
              </a:ext>
            </a:extLst>
          </p:cNvPr>
          <p:cNvSpPr txBox="1"/>
          <p:nvPr/>
        </p:nvSpPr>
        <p:spPr>
          <a:xfrm>
            <a:off x="640398" y="2971001"/>
            <a:ext cx="10515600" cy="169277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IN" sz="2400" b="1">
                <a:latin typeface="Helvetica Neue Light" panose="020B0604020202020204" charset="0"/>
              </a:rPr>
              <a:t>Deterministic Baseline strategy:</a:t>
            </a:r>
          </a:p>
          <a:p>
            <a:r>
              <a:rPr lang="en-IN" sz="2000">
                <a:latin typeface="Times New Roman"/>
                <a:cs typeface="Times New Roman"/>
              </a:rPr>
              <a:t>Routing decisions are fixed using shortest-path algorithms: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>
                <a:latin typeface="Times New Roman" panose="02020603050405020304" pitchFamily="18" charset="0"/>
                <a:cs typeface="Times New Roman" panose="02020603050405020304" pitchFamily="18" charset="0"/>
              </a:rPr>
              <a:t>Dijkstra’s Algorithm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>
                <a:latin typeface="Times New Roman" panose="02020603050405020304" pitchFamily="18" charset="0"/>
                <a:cs typeface="Times New Roman" panose="02020603050405020304" pitchFamily="18" charset="0"/>
              </a:rPr>
              <a:t>A* Search Algorithm</a:t>
            </a:r>
          </a:p>
          <a:p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Packets always follow the computed path.</a:t>
            </a:r>
            <a:r>
              <a:rPr lang="en-IN" sz="20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05F29CA-7C22-8D44-0E74-372AD578C5E3}"/>
              </a:ext>
            </a:extLst>
          </p:cNvPr>
          <p:cNvSpPr txBox="1"/>
          <p:nvPr/>
        </p:nvSpPr>
        <p:spPr>
          <a:xfrm>
            <a:off x="640398" y="1986116"/>
            <a:ext cx="10515600" cy="9848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>
                <a:latin typeface="Helvetica Neue Light" panose="020B0604020202020204" charset="0"/>
              </a:rPr>
              <a:t>Exact Objective:</a:t>
            </a:r>
          </a:p>
          <a:p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Measure and compare total queue delay experienced by packets when routed through the network.</a:t>
            </a:r>
          </a:p>
          <a:p>
            <a:endParaRPr lang="en-IN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6805DD1-3D62-3037-4884-E5F228C70ED2}"/>
              </a:ext>
            </a:extLst>
          </p:cNvPr>
          <p:cNvSpPr txBox="1"/>
          <p:nvPr/>
        </p:nvSpPr>
        <p:spPr>
          <a:xfrm>
            <a:off x="607287" y="4712007"/>
            <a:ext cx="1051560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>
                <a:latin typeface="Helvetica Neue Light" panose="020B0604020202020204" charset="0"/>
              </a:rPr>
              <a:t>Queue Handling: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Each node maintains a FIFO queue.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Queue delay is calculated for each packet at every node.</a:t>
            </a:r>
            <a:endParaRPr lang="en-IN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3714811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60323"/>
    </mc:Choice>
    <mc:Fallback>
      <p:transition spd="slow" advTm="60323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>
          <a:extLst>
            <a:ext uri="{FF2B5EF4-FFF2-40B4-BE49-F238E27FC236}">
              <a16:creationId xmlns:a16="http://schemas.microsoft.com/office/drawing/2014/main" id="{CBC4EA04-A33E-44D6-4030-0E9F6C4314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3">
            <a:extLst>
              <a:ext uri="{FF2B5EF4-FFF2-40B4-BE49-F238E27FC236}">
                <a16:creationId xmlns:a16="http://schemas.microsoft.com/office/drawing/2014/main" id="{C28A0981-DB2D-CB57-DF6C-8AEA475F98C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55523" y="0"/>
            <a:ext cx="10515600" cy="12284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lvl="0"/>
            <a:r>
              <a:rPr lang="en-US">
                <a:latin typeface="Helvetica Neue Light"/>
              </a:rPr>
              <a:t>System Pipeline Overview</a:t>
            </a:r>
          </a:p>
        </p:txBody>
      </p:sp>
      <p:sp>
        <p:nvSpPr>
          <p:cNvPr id="90" name="Google Shape;90;p13">
            <a:extLst>
              <a:ext uri="{FF2B5EF4-FFF2-40B4-BE49-F238E27FC236}">
                <a16:creationId xmlns:a16="http://schemas.microsoft.com/office/drawing/2014/main" id="{B4D3D63C-4771-7F75-5E55-F31DEEB7ACFD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0976298" y="6135075"/>
            <a:ext cx="551121" cy="3774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/>
              <a:t>|</a:t>
            </a:r>
            <a:r>
              <a:rPr lang="en-US"/>
              <a:t>  </a:t>
            </a:r>
            <a:fld id="{00000000-1234-1234-1234-123412341234}" type="slidenum">
              <a:rPr lang="en-US"/>
              <a:t>4</a:t>
            </a:fld>
            <a:endParaRPr/>
          </a:p>
        </p:txBody>
      </p:sp>
      <p:sp>
        <p:nvSpPr>
          <p:cNvPr id="91" name="Google Shape;91;p13">
            <a:extLst>
              <a:ext uri="{FF2B5EF4-FFF2-40B4-BE49-F238E27FC236}">
                <a16:creationId xmlns:a16="http://schemas.microsoft.com/office/drawing/2014/main" id="{E3F4D42E-D3FF-3776-D1DC-D16D357DEDFE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8098420" y="6135074"/>
            <a:ext cx="2877878" cy="3774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US"/>
              <a:t>09/03/26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CCCB285-E81F-DF6D-C15F-03EB13DA8DED}"/>
              </a:ext>
            </a:extLst>
          </p:cNvPr>
          <p:cNvSpPr txBox="1"/>
          <p:nvPr/>
        </p:nvSpPr>
        <p:spPr>
          <a:xfrm>
            <a:off x="630566" y="2922244"/>
            <a:ext cx="10515600" cy="16927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>
                <a:latin typeface="Helvetica Neue Light" panose="020B0604020202020204" charset="0"/>
                <a:cs typeface="Times New Roman" panose="02020603050405020304" pitchFamily="18" charset="0"/>
              </a:rPr>
              <a:t>Simulation Pipeline:</a:t>
            </a:r>
            <a:endParaRPr lang="en-IN" sz="2400">
              <a:latin typeface="Helvetica Neue Light" panose="020B0604020202020204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Generate a fixed number of packets</a:t>
            </a:r>
            <a:endParaRPr lang="en-IN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Compute shortest path using Dijkstra or A*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Packets move through nodes along the path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Queue delay is calculated at each node</a:t>
            </a:r>
            <a:endParaRPr lang="en-IN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CCB6C24-E518-04E1-A12A-E145195223CA}"/>
              </a:ext>
            </a:extLst>
          </p:cNvPr>
          <p:cNvSpPr txBox="1"/>
          <p:nvPr/>
        </p:nvSpPr>
        <p:spPr>
          <a:xfrm>
            <a:off x="630566" y="1693052"/>
            <a:ext cx="10440557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>
                <a:latin typeface="Helvetica Neue Light" panose="020B0604020202020204" charset="0"/>
              </a:rPr>
              <a:t>System Architecture: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Network represented as a graph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>
                <a:latin typeface="Times New Roman" panose="02020603050405020304" pitchFamily="18" charset="0"/>
                <a:cs typeface="Times New Roman" panose="02020603050405020304" pitchFamily="18" charset="0"/>
              </a:rPr>
              <a:t>Nodes = routers, edges = communication links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CAAB1BA-2704-5C82-831F-981D62C4D78B}"/>
              </a:ext>
            </a:extLst>
          </p:cNvPr>
          <p:cNvSpPr txBox="1"/>
          <p:nvPr/>
        </p:nvSpPr>
        <p:spPr>
          <a:xfrm>
            <a:off x="630566" y="4749449"/>
            <a:ext cx="10862838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>
                <a:latin typeface="Helvetica Neue Light" panose="020B0604020202020204" charset="0"/>
              </a:rPr>
              <a:t>Where Uncertainty Enters: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>
                <a:latin typeface="Times New Roman" panose="02020603050405020304" pitchFamily="18" charset="0"/>
                <a:cs typeface="Times New Roman" panose="02020603050405020304" pitchFamily="18" charset="0"/>
              </a:rPr>
              <a:t>Multiple packets may reach nodes at the same time.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>
                <a:latin typeface="Times New Roman" panose="02020603050405020304" pitchFamily="18" charset="0"/>
                <a:cs typeface="Times New Roman" panose="02020603050405020304" pitchFamily="18" charset="0"/>
              </a:rPr>
              <a:t>Queue length changes dynamically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IN" sz="2400" b="1">
              <a:latin typeface="Helvetica Neue Light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8598970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60033"/>
    </mc:Choice>
    <mc:Fallback>
      <p:transition spd="slow" advTm="60033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>
          <a:extLst>
            <a:ext uri="{FF2B5EF4-FFF2-40B4-BE49-F238E27FC236}">
              <a16:creationId xmlns:a16="http://schemas.microsoft.com/office/drawing/2014/main" id="{86485E50-3032-06A9-CDBD-02F70D17BD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3">
            <a:extLst>
              <a:ext uri="{FF2B5EF4-FFF2-40B4-BE49-F238E27FC236}">
                <a16:creationId xmlns:a16="http://schemas.microsoft.com/office/drawing/2014/main" id="{C768C1CC-A4E7-7B4F-538A-DBF8DE6F0EB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30566" y="-219662"/>
            <a:ext cx="10515600" cy="1998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lvl="0"/>
            <a:r>
              <a:rPr lang="en-IN">
                <a:latin typeface="Helvetica Neue Light"/>
              </a:rPr>
              <a:t>Sources of Uncertainty</a:t>
            </a:r>
            <a:endParaRPr lang="en-US">
              <a:latin typeface="Helvetica Neue Light"/>
            </a:endParaRPr>
          </a:p>
        </p:txBody>
      </p:sp>
      <p:sp>
        <p:nvSpPr>
          <p:cNvPr id="90" name="Google Shape;90;p13">
            <a:extLst>
              <a:ext uri="{FF2B5EF4-FFF2-40B4-BE49-F238E27FC236}">
                <a16:creationId xmlns:a16="http://schemas.microsoft.com/office/drawing/2014/main" id="{8EB61E24-7591-EC39-2BF9-E3E5F720D25E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0976298" y="6135075"/>
            <a:ext cx="551121" cy="3774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/>
              <a:t>|</a:t>
            </a:r>
            <a:r>
              <a:rPr lang="en-US"/>
              <a:t>  </a:t>
            </a:r>
            <a:fld id="{00000000-1234-1234-1234-123412341234}" type="slidenum">
              <a:rPr lang="en-US"/>
              <a:t>5</a:t>
            </a:fld>
            <a:endParaRPr/>
          </a:p>
        </p:txBody>
      </p:sp>
      <p:sp>
        <p:nvSpPr>
          <p:cNvPr id="91" name="Google Shape;91;p13">
            <a:extLst>
              <a:ext uri="{FF2B5EF4-FFF2-40B4-BE49-F238E27FC236}">
                <a16:creationId xmlns:a16="http://schemas.microsoft.com/office/drawing/2014/main" id="{3255D212-DCDD-3520-6DE8-2B630EA3FEF6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8098420" y="6135074"/>
            <a:ext cx="2877878" cy="3774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US"/>
              <a:t>09/03/26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B4C72DB-A823-83B7-D18F-24B41F9E3C21}"/>
              </a:ext>
            </a:extLst>
          </p:cNvPr>
          <p:cNvSpPr txBox="1"/>
          <p:nvPr/>
        </p:nvSpPr>
        <p:spPr>
          <a:xfrm>
            <a:off x="630566" y="3286281"/>
            <a:ext cx="1051560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latin typeface="Helvetica Neue Light" panose="020B0604020202020204" charset="0"/>
              </a:rPr>
              <a:t>Modelling Uncertainty: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Waiting time depends on the number of packets already in the queue.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Interaction between packets creates unpredictable delays.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4A3FEF6-8485-EEE5-D9F7-E7228C27D571}"/>
              </a:ext>
            </a:extLst>
          </p:cNvPr>
          <p:cNvSpPr txBox="1"/>
          <p:nvPr/>
        </p:nvSpPr>
        <p:spPr>
          <a:xfrm>
            <a:off x="630566" y="1963304"/>
            <a:ext cx="10515600" cy="11387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>
                <a:latin typeface="Helvetica Neue Light" panose="020B0604020202020204" charset="0"/>
              </a:rPr>
              <a:t>Variability in the System:</a:t>
            </a:r>
            <a:endParaRPr lang="en-IN" sz="2400">
              <a:latin typeface="Helvetica Neue Light" panose="020B060402020202020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>
                <a:latin typeface="Helvetica Neue Light" panose="020B0604020202020204" charset="0"/>
              </a:rPr>
              <a:t> </a:t>
            </a: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Different packets may reach nodes at similar times.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Queue length changes depending on network load.</a:t>
            </a:r>
            <a:endParaRPr lang="en-IN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07E2DB3-B0D5-CBD2-C4E8-B4A211175AE8}"/>
              </a:ext>
            </a:extLst>
          </p:cNvPr>
          <p:cNvSpPr txBox="1"/>
          <p:nvPr/>
        </p:nvSpPr>
        <p:spPr>
          <a:xfrm>
            <a:off x="630566" y="4679900"/>
            <a:ext cx="10515600" cy="11387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>
                <a:latin typeface="Helvetica Neue Light" panose="020B0604020202020204" charset="0"/>
              </a:rPr>
              <a:t>How uncertainty is simulated: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Multiple packets are processed simultaneously.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Queue delay is computed dynamically based on queue size.</a:t>
            </a:r>
            <a:endParaRPr lang="en-IN" sz="20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1517518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52291"/>
    </mc:Choice>
    <mc:Fallback>
      <p:transition spd="slow" advTm="5229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>
          <a:extLst>
            <a:ext uri="{FF2B5EF4-FFF2-40B4-BE49-F238E27FC236}">
              <a16:creationId xmlns:a16="http://schemas.microsoft.com/office/drawing/2014/main" id="{93D384C6-1B54-7D8D-E551-8ACE360269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3">
            <a:extLst>
              <a:ext uri="{FF2B5EF4-FFF2-40B4-BE49-F238E27FC236}">
                <a16:creationId xmlns:a16="http://schemas.microsoft.com/office/drawing/2014/main" id="{D6BD744D-E3F3-92A0-32A7-809BF3B9879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30566" y="0"/>
            <a:ext cx="10515600" cy="13464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lvl="0"/>
            <a:r>
              <a:rPr lang="en-IN">
                <a:latin typeface="Helvetica Neue Light"/>
              </a:rPr>
              <a:t>Key Random Variables</a:t>
            </a:r>
            <a:endParaRPr lang="en-US">
              <a:latin typeface="Helvetica Neue Light"/>
            </a:endParaRPr>
          </a:p>
        </p:txBody>
      </p:sp>
      <p:sp>
        <p:nvSpPr>
          <p:cNvPr id="90" name="Google Shape;90;p13">
            <a:extLst>
              <a:ext uri="{FF2B5EF4-FFF2-40B4-BE49-F238E27FC236}">
                <a16:creationId xmlns:a16="http://schemas.microsoft.com/office/drawing/2014/main" id="{7CA7CD61-4221-90E4-68B1-D9A3593D3910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0976298" y="6135075"/>
            <a:ext cx="551121" cy="3774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/>
              <a:t>|</a:t>
            </a:r>
            <a:r>
              <a:rPr lang="en-US"/>
              <a:t>  </a:t>
            </a:r>
            <a:fld id="{00000000-1234-1234-1234-123412341234}" type="slidenum">
              <a:rPr lang="en-US"/>
              <a:t>6</a:t>
            </a:fld>
            <a:endParaRPr/>
          </a:p>
        </p:txBody>
      </p:sp>
      <p:sp>
        <p:nvSpPr>
          <p:cNvPr id="91" name="Google Shape;91;p13">
            <a:extLst>
              <a:ext uri="{FF2B5EF4-FFF2-40B4-BE49-F238E27FC236}">
                <a16:creationId xmlns:a16="http://schemas.microsoft.com/office/drawing/2014/main" id="{86AD8E4B-ADBE-77EB-3BF3-20910A8EFD88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8098420" y="6135074"/>
            <a:ext cx="2877878" cy="3774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US"/>
              <a:t>09/03/26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6195D9D-A93B-BA39-C2E4-83B73EF82C7F}"/>
              </a:ext>
            </a:extLst>
          </p:cNvPr>
          <p:cNvSpPr txBox="1"/>
          <p:nvPr/>
        </p:nvSpPr>
        <p:spPr>
          <a:xfrm>
            <a:off x="630566" y="1529324"/>
            <a:ext cx="10515600" cy="31700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IN" sz="2000">
                <a:latin typeface="Times New Roman" panose="02020603050405020304" pitchFamily="18" charset="0"/>
                <a:cs typeface="Times New Roman" panose="02020603050405020304" pitchFamily="18" charset="0"/>
              </a:rPr>
              <a:t>Queue Length (Q):</a:t>
            </a:r>
          </a:p>
          <a:p>
            <a:pPr lvl="1"/>
            <a:r>
              <a:rPr lang="en-IN" sz="2000">
                <a:latin typeface="Times New Roman" panose="02020603050405020304" pitchFamily="18" charset="0"/>
                <a:cs typeface="Times New Roman" panose="02020603050405020304" pitchFamily="18" charset="0"/>
              </a:rPr>
              <a:t>Number of packets waiting in a node queue.</a:t>
            </a:r>
          </a:p>
          <a:p>
            <a:pPr marL="342900" lvl="1" indent="-342900">
              <a:buFont typeface="+mj-lt"/>
              <a:buAutoNum type="arabicPeriod"/>
            </a:pPr>
            <a:endParaRPr lang="en-IN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en-IN" sz="2000">
                <a:latin typeface="Times New Roman" panose="02020603050405020304" pitchFamily="18" charset="0"/>
                <a:cs typeface="Times New Roman" panose="02020603050405020304" pitchFamily="18" charset="0"/>
              </a:rPr>
              <a:t>Queue Delay (D):</a:t>
            </a:r>
          </a:p>
          <a:p>
            <a:pPr lvl="1"/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Waiting time experienced by a packet at a node.</a:t>
            </a:r>
          </a:p>
          <a:p>
            <a:pPr lvl="1"/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Queue Delay = Queue Length / Service Rate (μ)</a:t>
            </a:r>
          </a:p>
          <a:p>
            <a:pPr lvl="1"/>
            <a:endParaRPr lang="en-IN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en-IN" sz="2000">
                <a:latin typeface="Times New Roman" panose="02020603050405020304" pitchFamily="18" charset="0"/>
                <a:cs typeface="Times New Roman" panose="02020603050405020304" pitchFamily="18" charset="0"/>
              </a:rPr>
              <a:t>Packet Delay (T):</a:t>
            </a:r>
          </a:p>
          <a:p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Total delay accumulated along the path.</a:t>
            </a:r>
          </a:p>
          <a:p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Total Delay = sum of queue delays across nodes.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4CC017A-AB34-C13C-FEC7-0EE2775FAA12}"/>
              </a:ext>
            </a:extLst>
          </p:cNvPr>
          <p:cNvSpPr txBox="1"/>
          <p:nvPr/>
        </p:nvSpPr>
        <p:spPr>
          <a:xfrm>
            <a:off x="630566" y="4836233"/>
            <a:ext cx="10896853" cy="9848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>
                <a:latin typeface="Helvetica Neue Light" panose="020B0604020202020204" charset="0"/>
              </a:rPr>
              <a:t>Role in Simulation:</a:t>
            </a:r>
          </a:p>
          <a:p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These variables determine congestion level and overall packet delay.</a:t>
            </a:r>
          </a:p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6740655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56308"/>
    </mc:Choice>
    <mc:Fallback>
      <p:transition spd="slow" advTm="56308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>
          <a:extLst>
            <a:ext uri="{FF2B5EF4-FFF2-40B4-BE49-F238E27FC236}">
              <a16:creationId xmlns:a16="http://schemas.microsoft.com/office/drawing/2014/main" id="{A5E14460-BF05-8956-97CB-2C430A6899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3">
            <a:extLst>
              <a:ext uri="{FF2B5EF4-FFF2-40B4-BE49-F238E27FC236}">
                <a16:creationId xmlns:a16="http://schemas.microsoft.com/office/drawing/2014/main" id="{9342022B-4A11-4D0F-4EBA-2132DAB170B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30566" y="-219662"/>
            <a:ext cx="10515600" cy="1998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lvl="0"/>
            <a:r>
              <a:rPr lang="en-US">
                <a:latin typeface="Helvetica Neue Light"/>
              </a:rPr>
              <a:t>Probabilistic Modeling with Deterministic Decisions</a:t>
            </a:r>
          </a:p>
        </p:txBody>
      </p:sp>
      <p:sp>
        <p:nvSpPr>
          <p:cNvPr id="90" name="Google Shape;90;p13">
            <a:extLst>
              <a:ext uri="{FF2B5EF4-FFF2-40B4-BE49-F238E27FC236}">
                <a16:creationId xmlns:a16="http://schemas.microsoft.com/office/drawing/2014/main" id="{E63F8BE9-D542-1E78-ABBE-1F8A05EC18F3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0976298" y="6135075"/>
            <a:ext cx="551121" cy="3774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/>
              <a:t>|</a:t>
            </a:r>
            <a:r>
              <a:rPr lang="en-US"/>
              <a:t>  </a:t>
            </a:r>
            <a:fld id="{00000000-1234-1234-1234-123412341234}" type="slidenum">
              <a:rPr lang="en-US"/>
              <a:t>7</a:t>
            </a:fld>
            <a:endParaRPr/>
          </a:p>
        </p:txBody>
      </p:sp>
      <p:sp>
        <p:nvSpPr>
          <p:cNvPr id="91" name="Google Shape;91;p13">
            <a:extLst>
              <a:ext uri="{FF2B5EF4-FFF2-40B4-BE49-F238E27FC236}">
                <a16:creationId xmlns:a16="http://schemas.microsoft.com/office/drawing/2014/main" id="{8ED4CC6E-442D-D387-C08A-1970F2D30B2C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8098420" y="6135074"/>
            <a:ext cx="2877878" cy="3774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US"/>
              <a:t>09/03/26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A72A72E-2BA4-AFAC-DFCD-9F47D8F068D0}"/>
              </a:ext>
            </a:extLst>
          </p:cNvPr>
          <p:cNvSpPr txBox="1"/>
          <p:nvPr/>
        </p:nvSpPr>
        <p:spPr>
          <a:xfrm>
            <a:off x="630566" y="3329344"/>
            <a:ext cx="1051560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>
                <a:latin typeface="Helvetica Neue Light" panose="020B0604020202020204" charset="0"/>
              </a:rPr>
              <a:t>Deterministic Decisions: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/>
              <a:t>Routing path determined by Dijkstra or A*.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/>
              <a:t>Packets follow fixed paths.</a:t>
            </a:r>
            <a:endParaRPr lang="en-IN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E047BDC-F423-A8B2-6925-CC3C959976B4}"/>
              </a:ext>
            </a:extLst>
          </p:cNvPr>
          <p:cNvSpPr txBox="1"/>
          <p:nvPr/>
        </p:nvSpPr>
        <p:spPr>
          <a:xfrm>
            <a:off x="630567" y="2015613"/>
            <a:ext cx="1051560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>
                <a:latin typeface="Helvetica Neue Light" panose="020B0604020202020204" charset="0"/>
              </a:rPr>
              <a:t>Mathematical Assumptions: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/>
              <a:t>Network represented as a graph.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/>
              <a:t>Nodes process packets with service rate μ</a:t>
            </a:r>
            <a:r>
              <a:rPr lang="en-US" sz="2000" b="1"/>
              <a:t>.</a:t>
            </a:r>
            <a:endParaRPr lang="en-IN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8FAB04D-EE07-E851-FA85-D4EEC997196C}"/>
              </a:ext>
            </a:extLst>
          </p:cNvPr>
          <p:cNvSpPr txBox="1"/>
          <p:nvPr/>
        </p:nvSpPr>
        <p:spPr>
          <a:xfrm>
            <a:off x="630566" y="4510256"/>
            <a:ext cx="10515600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>
                <a:latin typeface="Helvetica Neue Light" panose="020B0604020202020204" charset="0"/>
              </a:rPr>
              <a:t>Delay Model:</a:t>
            </a:r>
          </a:p>
          <a:p>
            <a:r>
              <a:rPr lang="en-IN" sz="2000" err="1">
                <a:latin typeface="Times New Roman" panose="02020603050405020304" pitchFamily="18" charset="0"/>
                <a:cs typeface="Times New Roman" panose="02020603050405020304" pitchFamily="18" charset="0"/>
              </a:rPr>
              <a:t>QueueDelay</a:t>
            </a:r>
            <a:r>
              <a:rPr lang="en-IN" sz="2000">
                <a:latin typeface="Times New Roman" panose="02020603050405020304" pitchFamily="18" charset="0"/>
                <a:cs typeface="Times New Roman" panose="02020603050405020304" pitchFamily="18" charset="0"/>
              </a:rPr>
              <a:t>ᵢ = Qᵢ / </a:t>
            </a:r>
            <a:r>
              <a:rPr lang="el-GR" sz="2000">
                <a:latin typeface="Times New Roman" panose="02020603050405020304" pitchFamily="18" charset="0"/>
                <a:cs typeface="Times New Roman" panose="02020603050405020304" pitchFamily="18" charset="0"/>
              </a:rPr>
              <a:t>μ</a:t>
            </a:r>
          </a:p>
          <a:p>
            <a:r>
              <a:rPr lang="en-IN" sz="2000" err="1">
                <a:latin typeface="Times New Roman" panose="02020603050405020304" pitchFamily="18" charset="0"/>
                <a:cs typeface="Times New Roman" panose="02020603050405020304" pitchFamily="18" charset="0"/>
              </a:rPr>
              <a:t>TotalDelay</a:t>
            </a:r>
            <a:r>
              <a:rPr lang="en-IN" sz="200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l-GR" sz="2000">
                <a:latin typeface="Times New Roman" panose="02020603050405020304" pitchFamily="18" charset="0"/>
                <a:cs typeface="Times New Roman" panose="02020603050405020304" pitchFamily="18" charset="0"/>
              </a:rPr>
              <a:t>Σ </a:t>
            </a:r>
            <a:r>
              <a:rPr lang="en-IN" sz="2000" err="1">
                <a:latin typeface="Times New Roman" panose="02020603050405020304" pitchFamily="18" charset="0"/>
                <a:cs typeface="Times New Roman" panose="02020603050405020304" pitchFamily="18" charset="0"/>
              </a:rPr>
              <a:t>QueueDelay</a:t>
            </a:r>
            <a:r>
              <a:rPr lang="en-IN" sz="2000">
                <a:latin typeface="Times New Roman" panose="02020603050405020304" pitchFamily="18" charset="0"/>
                <a:cs typeface="Times New Roman" panose="02020603050405020304" pitchFamily="18" charset="0"/>
              </a:rPr>
              <a:t>ᵢ</a:t>
            </a:r>
          </a:p>
          <a:p>
            <a:endParaRPr lang="en-IN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9989518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82351"/>
    </mc:Choice>
    <mc:Fallback>
      <p:transition spd="slow" advTm="8235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>
          <a:extLst>
            <a:ext uri="{FF2B5EF4-FFF2-40B4-BE49-F238E27FC236}">
              <a16:creationId xmlns:a16="http://schemas.microsoft.com/office/drawing/2014/main" id="{E62287E3-9401-B494-E224-595966E2B1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3">
            <a:extLst>
              <a:ext uri="{FF2B5EF4-FFF2-40B4-BE49-F238E27FC236}">
                <a16:creationId xmlns:a16="http://schemas.microsoft.com/office/drawing/2014/main" id="{D4C0B6B1-7738-E4E2-F54D-0509B1CC3B5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30566" y="-735856"/>
            <a:ext cx="10515600" cy="1998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r>
              <a:rPr lang="en-US">
                <a:latin typeface="Helvetica Neue Light"/>
              </a:rPr>
              <a:t>Deterministic Baseline Logic</a:t>
            </a:r>
          </a:p>
        </p:txBody>
      </p:sp>
      <p:sp>
        <p:nvSpPr>
          <p:cNvPr id="89" name="Google Shape;89;p13">
            <a:extLst>
              <a:ext uri="{FF2B5EF4-FFF2-40B4-BE49-F238E27FC236}">
                <a16:creationId xmlns:a16="http://schemas.microsoft.com/office/drawing/2014/main" id="{6F0B27A2-23A9-4AC9-E02D-AB5D4895C44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30566" y="1292240"/>
            <a:ext cx="10513745" cy="48407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indent="0">
              <a:buSzPct val="100000"/>
            </a:pPr>
            <a:r>
              <a:rPr lang="en-US" sz="2400" b="1">
                <a:solidFill>
                  <a:schemeClr val="tx1"/>
                </a:solidFill>
              </a:rPr>
              <a:t>Baseline Strategy</a:t>
            </a:r>
            <a:endParaRPr lang="en-US"/>
          </a:p>
          <a:p>
            <a:pPr marL="0" indent="0"/>
            <a:r>
              <a:rPr lang="en-US">
                <a:solidFill>
                  <a:schemeClr val="tx1"/>
                </a:solidFill>
                <a:latin typeface="Arial"/>
                <a:cs typeface="Arial"/>
              </a:rPr>
              <a:t>Shortest path routing with FIFO queue processing at each node</a:t>
            </a:r>
            <a:r>
              <a:rPr lang="en-US" sz="2400">
                <a:solidFill>
                  <a:schemeClr val="tx1"/>
                </a:solidFill>
                <a:latin typeface="Arial"/>
                <a:cs typeface="Arial"/>
              </a:rPr>
              <a:t>.</a:t>
            </a:r>
          </a:p>
          <a:p>
            <a:pPr marL="0" indent="0"/>
            <a:endParaRPr lang="en-US" sz="2400">
              <a:solidFill>
                <a:schemeClr val="tx1"/>
              </a:solidFill>
              <a:latin typeface="Arial"/>
              <a:cs typeface="Arial"/>
            </a:endParaRPr>
          </a:p>
          <a:p>
            <a:pPr marL="0" indent="0"/>
            <a:r>
              <a:rPr lang="en-US" sz="2400" b="1">
                <a:solidFill>
                  <a:schemeClr val="tx1"/>
                </a:solidFill>
                <a:cs typeface="Arial"/>
              </a:rPr>
              <a:t>Step-by-step operation</a:t>
            </a:r>
            <a:r>
              <a:rPr lang="en-US" sz="2400">
                <a:solidFill>
                  <a:schemeClr val="tx1"/>
                </a:solidFill>
                <a:cs typeface="Arial"/>
              </a:rPr>
              <a:t> </a:t>
            </a:r>
            <a:endParaRPr lang="en-US">
              <a:solidFill>
                <a:schemeClr val="tx1"/>
              </a:solidFill>
            </a:endParaRPr>
          </a:p>
          <a:p>
            <a:pPr marL="285750" indent="-285750">
              <a:buFont typeface="Arial"/>
              <a:buChar char="•"/>
            </a:pPr>
            <a:r>
              <a:rPr lang="en-US">
                <a:solidFill>
                  <a:schemeClr val="tx1"/>
                </a:solidFill>
                <a:latin typeface="Arial"/>
                <a:cs typeface="Arial"/>
              </a:rPr>
              <a:t>Represent the network as a graph of routers and links</a:t>
            </a:r>
          </a:p>
          <a:p>
            <a:pPr marL="285750" indent="-285750">
              <a:buFont typeface="Arial"/>
              <a:buChar char="•"/>
            </a:pPr>
            <a:r>
              <a:rPr lang="en-US">
                <a:solidFill>
                  <a:schemeClr val="tx1"/>
                </a:solidFill>
                <a:latin typeface="Arial"/>
                <a:cs typeface="Arial"/>
              </a:rPr>
              <a:t>Assign queue delay weights to nodes</a:t>
            </a:r>
          </a:p>
          <a:p>
            <a:pPr marL="285750" indent="-285750">
              <a:buFont typeface="Arial"/>
              <a:buChar char="•"/>
            </a:pPr>
            <a:r>
              <a:rPr lang="en-US">
                <a:solidFill>
                  <a:schemeClr val="tx1"/>
                </a:solidFill>
                <a:latin typeface="Arial"/>
                <a:cs typeface="Arial"/>
              </a:rPr>
              <a:t>Compute shortest path using Dijkstra or A*</a:t>
            </a:r>
          </a:p>
          <a:p>
            <a:pPr marL="285750" indent="-285750">
              <a:buFont typeface="Arial"/>
              <a:buChar char="•"/>
            </a:pPr>
            <a:r>
              <a:rPr lang="en-US">
                <a:solidFill>
                  <a:schemeClr val="tx1"/>
                </a:solidFill>
                <a:latin typeface="Arial"/>
                <a:cs typeface="Arial"/>
              </a:rPr>
              <a:t>Packets follow a fixed deterministic path</a:t>
            </a:r>
          </a:p>
          <a:p>
            <a:pPr marL="285750" indent="-285750">
              <a:buFont typeface="Arial"/>
              <a:buChar char="•"/>
            </a:pPr>
            <a:r>
              <a:rPr lang="en-US">
                <a:solidFill>
                  <a:schemeClr val="tx1"/>
                </a:solidFill>
                <a:latin typeface="Arial"/>
                <a:cs typeface="Arial"/>
              </a:rPr>
              <a:t>Queue delays accumulate along the path</a:t>
            </a:r>
          </a:p>
          <a:p>
            <a:pPr marL="285750" indent="-285750">
              <a:buFont typeface="Arial"/>
              <a:buChar char="•"/>
            </a:pPr>
            <a:endParaRPr lang="en-US">
              <a:solidFill>
                <a:schemeClr val="tx1"/>
              </a:solidFill>
              <a:latin typeface="Arial"/>
              <a:cs typeface="Arial"/>
            </a:endParaRPr>
          </a:p>
          <a:p>
            <a:pPr marL="0" indent="0"/>
            <a:r>
              <a:rPr lang="en-US">
                <a:solidFill>
                  <a:schemeClr val="tx1"/>
                </a:solidFill>
                <a:latin typeface="Arial"/>
                <a:cs typeface="Arial"/>
              </a:rPr>
              <a:t>Routing decisions are deterministic with no randomization.</a:t>
            </a:r>
            <a:endParaRPr lang="en-US">
              <a:solidFill>
                <a:schemeClr val="tx1"/>
              </a:solidFill>
            </a:endParaRPr>
          </a:p>
        </p:txBody>
      </p:sp>
      <p:sp>
        <p:nvSpPr>
          <p:cNvPr id="90" name="Google Shape;90;p13">
            <a:extLst>
              <a:ext uri="{FF2B5EF4-FFF2-40B4-BE49-F238E27FC236}">
                <a16:creationId xmlns:a16="http://schemas.microsoft.com/office/drawing/2014/main" id="{C87C3AE8-FA7F-A926-1570-52FC6B386768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0976298" y="6135075"/>
            <a:ext cx="551121" cy="3774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/>
              <a:t>|</a:t>
            </a:r>
            <a:r>
              <a:rPr lang="en-US"/>
              <a:t>  </a:t>
            </a:r>
            <a:fld id="{00000000-1234-1234-1234-123412341234}" type="slidenum">
              <a:rPr lang="en-US"/>
              <a:t>8</a:t>
            </a:fld>
            <a:endParaRPr/>
          </a:p>
        </p:txBody>
      </p:sp>
      <p:sp>
        <p:nvSpPr>
          <p:cNvPr id="91" name="Google Shape;91;p13">
            <a:extLst>
              <a:ext uri="{FF2B5EF4-FFF2-40B4-BE49-F238E27FC236}">
                <a16:creationId xmlns:a16="http://schemas.microsoft.com/office/drawing/2014/main" id="{CA019A43-8259-3888-50A2-882A3F48AA70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8098420" y="6135074"/>
            <a:ext cx="2877878" cy="3774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US"/>
              <a:t>09/03/26</a:t>
            </a:r>
          </a:p>
        </p:txBody>
      </p:sp>
    </p:spTree>
    <p:extLst>
      <p:ext uri="{BB962C8B-B14F-4D97-AF65-F5344CB8AC3E}">
        <p14:creationId xmlns:p14="http://schemas.microsoft.com/office/powerpoint/2010/main" val="397521361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>
          <a:extLst>
            <a:ext uri="{FF2B5EF4-FFF2-40B4-BE49-F238E27FC236}">
              <a16:creationId xmlns:a16="http://schemas.microsoft.com/office/drawing/2014/main" id="{34B5848E-8E9A-4F73-A95B-0947AF506E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3">
            <a:extLst>
              <a:ext uri="{FF2B5EF4-FFF2-40B4-BE49-F238E27FC236}">
                <a16:creationId xmlns:a16="http://schemas.microsoft.com/office/drawing/2014/main" id="{A67A19D7-4E0B-342C-6A82-04A14E3EFE9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30566" y="-607851"/>
            <a:ext cx="10515600" cy="1998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r>
              <a:rPr lang="en-US">
                <a:latin typeface="Helvetica Neue Light"/>
              </a:rPr>
              <a:t>Simulation Implementation</a:t>
            </a:r>
          </a:p>
        </p:txBody>
      </p:sp>
      <p:sp>
        <p:nvSpPr>
          <p:cNvPr id="89" name="Google Shape;89;p13">
            <a:extLst>
              <a:ext uri="{FF2B5EF4-FFF2-40B4-BE49-F238E27FC236}">
                <a16:creationId xmlns:a16="http://schemas.microsoft.com/office/drawing/2014/main" id="{781C8CAC-665D-A45A-F452-B21AC65D3FD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30566" y="1388355"/>
            <a:ext cx="10536324" cy="47790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70000" lnSpcReduction="20000"/>
          </a:bodyPr>
          <a:lstStyle/>
          <a:p>
            <a:pPr marL="0" indent="0">
              <a:buSzPct val="100000"/>
            </a:pPr>
            <a:r>
              <a:rPr lang="en-US" sz="2400" b="1">
                <a:solidFill>
                  <a:schemeClr val="tx1"/>
                </a:solidFill>
              </a:rPr>
              <a:t>Algorithm Used</a:t>
            </a:r>
            <a:endParaRPr lang="en-US"/>
          </a:p>
          <a:p>
            <a:pPr marL="285750" indent="-285750">
              <a:buFont typeface="Arial"/>
              <a:buChar char="•"/>
            </a:pPr>
            <a:r>
              <a:rPr lang="en-US">
                <a:solidFill>
                  <a:schemeClr val="tx1"/>
                </a:solidFill>
                <a:cs typeface="Arial"/>
              </a:rPr>
              <a:t>Dijkstra’s Algorithm: minimum delay path</a:t>
            </a:r>
          </a:p>
          <a:p>
            <a:pPr marL="285750" indent="-285750">
              <a:buFont typeface="Arial"/>
              <a:buChar char="•"/>
            </a:pPr>
            <a:r>
              <a:rPr lang="en-US">
                <a:solidFill>
                  <a:schemeClr val="tx1"/>
                </a:solidFill>
                <a:cs typeface="Arial"/>
              </a:rPr>
              <a:t>A* Search Algorithm: heuristic-guided shortest path search</a:t>
            </a:r>
          </a:p>
          <a:p>
            <a:pPr marL="0" indent="0"/>
            <a:endParaRPr lang="en-US" sz="2400" b="1">
              <a:solidFill>
                <a:schemeClr val="tx1"/>
              </a:solidFill>
              <a:cs typeface="Arial"/>
            </a:endParaRPr>
          </a:p>
          <a:p>
            <a:pPr marL="0" indent="0"/>
            <a:r>
              <a:rPr lang="en-US" sz="2400" b="1">
                <a:solidFill>
                  <a:schemeClr val="tx1"/>
                </a:solidFill>
                <a:cs typeface="Arial"/>
              </a:rPr>
              <a:t>Code Structure</a:t>
            </a:r>
            <a:endParaRPr lang="en-US">
              <a:solidFill>
                <a:schemeClr val="tx1"/>
              </a:solidFill>
            </a:endParaRPr>
          </a:p>
          <a:p>
            <a:pPr marL="285750" indent="-285750">
              <a:buFont typeface="Arial"/>
              <a:buChar char="•"/>
            </a:pPr>
            <a:r>
              <a:rPr lang="en-US" sz="2400" b="1" err="1">
                <a:solidFill>
                  <a:schemeClr val="tx1"/>
                </a:solidFill>
                <a:cs typeface="Arial"/>
              </a:rPr>
              <a:t>QueueDelayGraph</a:t>
            </a:r>
            <a:r>
              <a:rPr lang="en-US" sz="2400" b="1">
                <a:solidFill>
                  <a:schemeClr val="tx1"/>
                </a:solidFill>
                <a:cs typeface="Arial"/>
              </a:rPr>
              <a:t> – </a:t>
            </a:r>
            <a:r>
              <a:rPr lang="en-US" sz="2400">
                <a:solidFill>
                  <a:schemeClr val="tx1"/>
                </a:solidFill>
                <a:cs typeface="Arial"/>
              </a:rPr>
              <a:t>build graph &amp; compute delays</a:t>
            </a:r>
            <a:endParaRPr lang="en-US">
              <a:solidFill>
                <a:schemeClr val="tx1"/>
              </a:solidFill>
              <a:cs typeface="Arial"/>
            </a:endParaRPr>
          </a:p>
          <a:p>
            <a:pPr marL="285750" indent="-285750">
              <a:buFont typeface="Arial"/>
              <a:buChar char="•"/>
            </a:pPr>
            <a:r>
              <a:rPr lang="en-US" sz="2400" b="1" err="1">
                <a:solidFill>
                  <a:schemeClr val="tx1"/>
                </a:solidFill>
                <a:cs typeface="Arial"/>
              </a:rPr>
              <a:t>run_dijkstra</a:t>
            </a:r>
            <a:r>
              <a:rPr lang="en-US" sz="2400" b="1">
                <a:solidFill>
                  <a:schemeClr val="tx1"/>
                </a:solidFill>
                <a:cs typeface="Arial"/>
              </a:rPr>
              <a:t>() - </a:t>
            </a:r>
            <a:r>
              <a:rPr lang="en-US" sz="2400">
                <a:solidFill>
                  <a:schemeClr val="tx1"/>
                </a:solidFill>
                <a:cs typeface="Arial"/>
              </a:rPr>
              <a:t>priority queue based shortest path</a:t>
            </a:r>
            <a:endParaRPr lang="en-US">
              <a:solidFill>
                <a:schemeClr val="tx1"/>
              </a:solidFill>
            </a:endParaRPr>
          </a:p>
          <a:p>
            <a:pPr marL="285750" indent="-285750">
              <a:buFont typeface="Arial"/>
              <a:buChar char="•"/>
            </a:pPr>
            <a:r>
              <a:rPr lang="en-US" sz="2400" b="1" err="1">
                <a:solidFill>
                  <a:schemeClr val="tx1"/>
                </a:solidFill>
                <a:cs typeface="Arial"/>
              </a:rPr>
              <a:t>run_astar</a:t>
            </a:r>
            <a:r>
              <a:rPr lang="en-US" sz="2400" b="1">
                <a:solidFill>
                  <a:schemeClr val="tx1"/>
                </a:solidFill>
                <a:cs typeface="Arial"/>
              </a:rPr>
              <a:t>() - </a:t>
            </a:r>
            <a:r>
              <a:rPr lang="en-US" sz="2400">
                <a:solidFill>
                  <a:schemeClr val="tx1"/>
                </a:solidFill>
                <a:cs typeface="Arial"/>
              </a:rPr>
              <a:t>heuristic-guided search</a:t>
            </a:r>
            <a:endParaRPr lang="en-US">
              <a:solidFill>
                <a:schemeClr val="tx1"/>
              </a:solidFill>
            </a:endParaRPr>
          </a:p>
          <a:p>
            <a:pPr marL="285750" indent="-285750">
              <a:buFont typeface="Arial"/>
              <a:buChar char="•"/>
            </a:pPr>
            <a:r>
              <a:rPr lang="en-US" sz="2400" b="1">
                <a:solidFill>
                  <a:schemeClr val="tx1"/>
                </a:solidFill>
                <a:cs typeface="Arial"/>
              </a:rPr>
              <a:t>main driver – </a:t>
            </a:r>
            <a:r>
              <a:rPr lang="en-US" sz="2400">
                <a:solidFill>
                  <a:schemeClr val="tx1"/>
                </a:solidFill>
                <a:cs typeface="Arial"/>
              </a:rPr>
              <a:t>runs simulation</a:t>
            </a:r>
            <a:endParaRPr lang="en-US">
              <a:solidFill>
                <a:schemeClr val="tx1"/>
              </a:solidFill>
            </a:endParaRPr>
          </a:p>
          <a:p>
            <a:pPr marL="457200" lvl="1" indent="0">
              <a:buFont typeface="Courier New"/>
            </a:pPr>
            <a:endParaRPr lang="en-US" sz="2400">
              <a:solidFill>
                <a:schemeClr val="tx1"/>
              </a:solidFill>
              <a:cs typeface="Arial"/>
            </a:endParaRPr>
          </a:p>
          <a:p>
            <a:pPr marL="0" indent="0"/>
            <a:r>
              <a:rPr lang="en-US" sz="2400" b="1">
                <a:solidFill>
                  <a:schemeClr val="tx1"/>
                </a:solidFill>
                <a:cs typeface="Arial"/>
              </a:rPr>
              <a:t>Pipeline Execution</a:t>
            </a:r>
          </a:p>
          <a:p>
            <a:pPr marL="285750" indent="-285750">
              <a:buFont typeface="Arial"/>
              <a:buChar char="•"/>
            </a:pPr>
            <a:r>
              <a:rPr lang="en-US" sz="2400">
                <a:solidFill>
                  <a:schemeClr val="tx1"/>
                </a:solidFill>
                <a:cs typeface="Arial"/>
              </a:rPr>
              <a:t>Load network data</a:t>
            </a:r>
            <a:endParaRPr lang="en-US">
              <a:solidFill>
                <a:schemeClr val="tx1"/>
              </a:solidFill>
            </a:endParaRPr>
          </a:p>
          <a:p>
            <a:pPr marL="285750" indent="-285750">
              <a:buFont typeface="Arial"/>
              <a:buChar char="•"/>
            </a:pPr>
            <a:r>
              <a:rPr lang="en-US" sz="2400">
                <a:solidFill>
                  <a:schemeClr val="tx1"/>
                </a:solidFill>
                <a:cs typeface="Arial"/>
              </a:rPr>
              <a:t>Build graph with queue delays</a:t>
            </a:r>
            <a:endParaRPr lang="en-US">
              <a:solidFill>
                <a:schemeClr val="tx1"/>
              </a:solidFill>
            </a:endParaRPr>
          </a:p>
          <a:p>
            <a:pPr marL="285750" indent="-285750">
              <a:buFont typeface="Arial"/>
              <a:buChar char="•"/>
            </a:pPr>
            <a:r>
              <a:rPr lang="en-US" sz="2400">
                <a:solidFill>
                  <a:schemeClr val="tx1"/>
                </a:solidFill>
                <a:cs typeface="Arial"/>
              </a:rPr>
              <a:t>Run Dijkstra and A*</a:t>
            </a:r>
            <a:endParaRPr lang="en-US">
              <a:solidFill>
                <a:schemeClr val="tx1"/>
              </a:solidFill>
            </a:endParaRPr>
          </a:p>
          <a:p>
            <a:pPr marL="285750" indent="-285750">
              <a:buFont typeface="Arial"/>
              <a:buChar char="•"/>
            </a:pPr>
            <a:r>
              <a:rPr lang="en-US" sz="2400">
                <a:solidFill>
                  <a:schemeClr val="tx1"/>
                </a:solidFill>
                <a:cs typeface="Arial"/>
              </a:rPr>
              <a:t>Record path, delay, expanded nodes, runtime</a:t>
            </a:r>
            <a:endParaRPr lang="en-US"/>
          </a:p>
          <a:p>
            <a:pPr marL="0" indent="0"/>
            <a:endParaRPr lang="en-US" sz="2400" b="1">
              <a:solidFill>
                <a:schemeClr val="tx1"/>
              </a:solidFill>
              <a:cs typeface="Arial"/>
            </a:endParaRPr>
          </a:p>
          <a:p>
            <a:pPr marL="0" indent="0"/>
            <a:endParaRPr lang="en-US">
              <a:solidFill>
                <a:schemeClr val="tx1"/>
              </a:solidFill>
              <a:cs typeface="Arial"/>
            </a:endParaRPr>
          </a:p>
          <a:p>
            <a:pPr marL="0" indent="0">
              <a:buFont typeface="Arial"/>
            </a:pPr>
            <a:endParaRPr lang="en-US">
              <a:solidFill>
                <a:schemeClr val="tx1"/>
              </a:solidFill>
              <a:cs typeface="Arial"/>
            </a:endParaRPr>
          </a:p>
          <a:p>
            <a:pPr marL="0" indent="0"/>
            <a:endParaRPr lang="en-US" b="1">
              <a:solidFill>
                <a:schemeClr val="tx1"/>
              </a:solidFill>
              <a:latin typeface="Arial"/>
              <a:cs typeface="Arial"/>
            </a:endParaRPr>
          </a:p>
        </p:txBody>
      </p:sp>
      <p:sp>
        <p:nvSpPr>
          <p:cNvPr id="90" name="Google Shape;90;p13">
            <a:extLst>
              <a:ext uri="{FF2B5EF4-FFF2-40B4-BE49-F238E27FC236}">
                <a16:creationId xmlns:a16="http://schemas.microsoft.com/office/drawing/2014/main" id="{42FF0E90-1732-9E3E-3537-3D5543E114E9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0976298" y="6135075"/>
            <a:ext cx="551121" cy="3774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/>
              <a:t>|</a:t>
            </a:r>
            <a:r>
              <a:rPr lang="en-US"/>
              <a:t>  </a:t>
            </a:r>
            <a:fld id="{00000000-1234-1234-1234-123412341234}" type="slidenum">
              <a:rPr lang="en-US"/>
              <a:t>9</a:t>
            </a:fld>
            <a:endParaRPr/>
          </a:p>
        </p:txBody>
      </p:sp>
      <p:sp>
        <p:nvSpPr>
          <p:cNvPr id="91" name="Google Shape;91;p13">
            <a:extLst>
              <a:ext uri="{FF2B5EF4-FFF2-40B4-BE49-F238E27FC236}">
                <a16:creationId xmlns:a16="http://schemas.microsoft.com/office/drawing/2014/main" id="{C8D1FEF5-CF62-B01F-9A85-2566A1BDB045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8098420" y="6135074"/>
            <a:ext cx="2877878" cy="3774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US"/>
              <a:t>09/03/26</a:t>
            </a:r>
          </a:p>
        </p:txBody>
      </p:sp>
    </p:spTree>
    <p:extLst>
      <p:ext uri="{BB962C8B-B14F-4D97-AF65-F5344CB8AC3E}">
        <p14:creationId xmlns:p14="http://schemas.microsoft.com/office/powerpoint/2010/main" val="396241472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>
          <a:extLst>
            <a:ext uri="{FF2B5EF4-FFF2-40B4-BE49-F238E27FC236}">
              <a16:creationId xmlns:a16="http://schemas.microsoft.com/office/drawing/2014/main" id="{BF08BD50-9D1E-CDCD-A7D2-EE0CEE6080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3">
            <a:extLst>
              <a:ext uri="{FF2B5EF4-FFF2-40B4-BE49-F238E27FC236}">
                <a16:creationId xmlns:a16="http://schemas.microsoft.com/office/drawing/2014/main" id="{574895E7-9073-4BDA-7884-FCACB0D4DDE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30566" y="-605610"/>
            <a:ext cx="10515600" cy="1998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r>
              <a:rPr lang="en-US">
                <a:latin typeface="Helvetica Neue Light"/>
              </a:rPr>
              <a:t>Results and Performance Analysis</a:t>
            </a:r>
          </a:p>
        </p:txBody>
      </p:sp>
      <p:sp>
        <p:nvSpPr>
          <p:cNvPr id="89" name="Google Shape;89;p13">
            <a:extLst>
              <a:ext uri="{FF2B5EF4-FFF2-40B4-BE49-F238E27FC236}">
                <a16:creationId xmlns:a16="http://schemas.microsoft.com/office/drawing/2014/main" id="{6A58D878-5FB0-942E-DA5C-81B025D5A5D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30566" y="1541594"/>
            <a:ext cx="4316488" cy="4770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85000" lnSpcReduction="2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ct val="100000"/>
              <a:buFont typeface="Helvetica Neue Light"/>
              <a:buNone/>
            </a:pPr>
            <a:r>
              <a:rPr lang="en-US" sz="2400" b="1">
                <a:solidFill>
                  <a:schemeClr val="tx1"/>
                </a:solidFill>
              </a:rPr>
              <a:t>Metrics</a:t>
            </a:r>
          </a:p>
          <a:p>
            <a:pPr marL="285750" indent="-285750">
              <a:buFont typeface="Arial"/>
              <a:buChar char="•"/>
            </a:pPr>
            <a:r>
              <a:rPr lang="en-US">
                <a:solidFill>
                  <a:schemeClr val="tx1"/>
                </a:solidFill>
                <a:latin typeface="Arial"/>
                <a:cs typeface="Arial"/>
              </a:rPr>
              <a:t>Total queue delay</a:t>
            </a:r>
          </a:p>
          <a:p>
            <a:pPr marL="285750" indent="-285750">
              <a:buFont typeface="Arial"/>
              <a:buChar char="•"/>
            </a:pPr>
            <a:r>
              <a:rPr lang="en-US">
                <a:solidFill>
                  <a:schemeClr val="tx1"/>
                </a:solidFill>
                <a:latin typeface="Arial"/>
                <a:cs typeface="Arial"/>
              </a:rPr>
              <a:t>Expanded nodes</a:t>
            </a:r>
          </a:p>
          <a:p>
            <a:pPr marL="285750" indent="-285750">
              <a:buFont typeface="Arial"/>
              <a:buChar char="•"/>
            </a:pPr>
            <a:r>
              <a:rPr lang="en-US">
                <a:solidFill>
                  <a:schemeClr val="tx1"/>
                </a:solidFill>
                <a:latin typeface="Arial"/>
                <a:cs typeface="Arial"/>
              </a:rPr>
              <a:t>Algorithm runtime</a:t>
            </a:r>
          </a:p>
          <a:p>
            <a:pPr marL="285750" indent="-285750">
              <a:buFont typeface="Arial"/>
              <a:buChar char="•"/>
            </a:pPr>
            <a:r>
              <a:rPr lang="en-US">
                <a:solidFill>
                  <a:schemeClr val="tx1"/>
                </a:solidFill>
                <a:latin typeface="Arial"/>
                <a:cs typeface="Arial"/>
              </a:rPr>
              <a:t>Computed routing path</a:t>
            </a:r>
          </a:p>
          <a:p>
            <a:pPr marL="285750" indent="-285750">
              <a:buFont typeface="Arial"/>
              <a:buChar char="•"/>
            </a:pPr>
            <a:r>
              <a:rPr lang="en-US">
                <a:solidFill>
                  <a:schemeClr val="tx1"/>
                </a:solidFill>
                <a:latin typeface="Arial"/>
                <a:cs typeface="Arial"/>
              </a:rPr>
              <a:t>Path length comparison</a:t>
            </a:r>
          </a:p>
          <a:p>
            <a:pPr marL="0" indent="0"/>
            <a:endParaRPr lang="en-US">
              <a:solidFill>
                <a:schemeClr val="tx1"/>
              </a:solidFill>
              <a:latin typeface="Arial"/>
              <a:cs typeface="Arial"/>
            </a:endParaRPr>
          </a:p>
          <a:p>
            <a:pPr marL="0" indent="0"/>
            <a:r>
              <a:rPr lang="en-US" sz="2400" b="1">
                <a:solidFill>
                  <a:schemeClr val="tx1"/>
                </a:solidFill>
                <a:cs typeface="Arial"/>
              </a:rPr>
              <a:t>PDF/CDF plots</a:t>
            </a:r>
            <a:endParaRPr lang="en-US" sz="2400" b="1">
              <a:solidFill>
                <a:schemeClr val="tx1"/>
              </a:solidFill>
            </a:endParaRPr>
          </a:p>
          <a:p>
            <a:pPr marL="285750" indent="-285750">
              <a:buFont typeface="Arial"/>
              <a:buChar char="•"/>
            </a:pPr>
            <a:r>
              <a:rPr lang="en-US">
                <a:solidFill>
                  <a:schemeClr val="tx1"/>
                </a:solidFill>
                <a:latin typeface="Arial"/>
                <a:cs typeface="Arial"/>
              </a:rPr>
              <a:t>PDF - distribution of queue delays</a:t>
            </a:r>
          </a:p>
          <a:p>
            <a:pPr marL="285750" indent="-285750">
              <a:buFont typeface="Arial"/>
              <a:buChar char="•"/>
            </a:pPr>
            <a:r>
              <a:rPr lang="en-US">
                <a:solidFill>
                  <a:schemeClr val="tx1"/>
                </a:solidFill>
                <a:latin typeface="Arial"/>
                <a:cs typeface="Arial"/>
              </a:rPr>
              <a:t>CDF - cumulative delay probability</a:t>
            </a:r>
          </a:p>
          <a:p>
            <a:pPr marL="285750" indent="-285750">
              <a:buFont typeface="Arial"/>
              <a:buChar char="•"/>
            </a:pPr>
            <a:r>
              <a:rPr lang="en-US">
                <a:solidFill>
                  <a:schemeClr val="tx1"/>
                </a:solidFill>
                <a:latin typeface="Arial"/>
                <a:cs typeface="Arial"/>
              </a:rPr>
              <a:t>Most delays occur between 0 and 3 units, indicating moderate congestion.</a:t>
            </a:r>
          </a:p>
          <a:p>
            <a:pPr marL="285750" indent="-285750">
              <a:buFont typeface="Arial"/>
              <a:buChar char="•"/>
            </a:pPr>
            <a:r>
              <a:rPr lang="en-US">
                <a:solidFill>
                  <a:schemeClr val="tx1"/>
                </a:solidFill>
                <a:latin typeface="Arial"/>
                <a:cs typeface="Arial"/>
              </a:rPr>
              <a:t>Curves for Dijkstra and A* almost overlap since both find the same optimal path.</a:t>
            </a:r>
          </a:p>
          <a:p>
            <a:pPr marL="0" indent="0"/>
            <a:endParaRPr lang="en-US" sz="2400" b="1">
              <a:solidFill>
                <a:schemeClr val="tx1"/>
              </a:solidFill>
              <a:cs typeface="Arial"/>
            </a:endParaRPr>
          </a:p>
        </p:txBody>
      </p:sp>
      <p:sp>
        <p:nvSpPr>
          <p:cNvPr id="90" name="Google Shape;90;p13">
            <a:extLst>
              <a:ext uri="{FF2B5EF4-FFF2-40B4-BE49-F238E27FC236}">
                <a16:creationId xmlns:a16="http://schemas.microsoft.com/office/drawing/2014/main" id="{86EB11CC-8F0D-A7E1-B80C-53668B9B741F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0976298" y="6135075"/>
            <a:ext cx="551121" cy="3774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/>
              <a:t>|</a:t>
            </a:r>
            <a:r>
              <a:rPr lang="en-US"/>
              <a:t>  </a:t>
            </a:r>
            <a:fld id="{00000000-1234-1234-1234-123412341234}" type="slidenum">
              <a:rPr lang="en-US"/>
              <a:t>10</a:t>
            </a:fld>
            <a:endParaRPr/>
          </a:p>
        </p:txBody>
      </p:sp>
      <p:sp>
        <p:nvSpPr>
          <p:cNvPr id="91" name="Google Shape;91;p13">
            <a:extLst>
              <a:ext uri="{FF2B5EF4-FFF2-40B4-BE49-F238E27FC236}">
                <a16:creationId xmlns:a16="http://schemas.microsoft.com/office/drawing/2014/main" id="{B208E50D-AD68-C9E2-C058-4ACAFF2B85CB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8098420" y="6135074"/>
            <a:ext cx="2877878" cy="3774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US"/>
              <a:t>09/03/26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C7BA18A-9011-85CD-8DE2-FB4BD791CB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45470" y="2368394"/>
            <a:ext cx="7040274" cy="30029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917888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>
          <a:extLst>
            <a:ext uri="{FF2B5EF4-FFF2-40B4-BE49-F238E27FC236}">
              <a16:creationId xmlns:a16="http://schemas.microsoft.com/office/drawing/2014/main" id="{1E51C301-5EB9-445E-4A4C-7B392C5A30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3">
            <a:extLst>
              <a:ext uri="{FF2B5EF4-FFF2-40B4-BE49-F238E27FC236}">
                <a16:creationId xmlns:a16="http://schemas.microsoft.com/office/drawing/2014/main" id="{30EE4022-6A07-5D3A-6C43-CCBC0901040B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0976298" y="6135075"/>
            <a:ext cx="551121" cy="3774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/>
              <a:t>|</a:t>
            </a:r>
            <a:r>
              <a:rPr lang="en-US"/>
              <a:t>  </a:t>
            </a:r>
            <a:fld id="{00000000-1234-1234-1234-123412341234}" type="slidenum">
              <a:rPr lang="en-US"/>
              <a:t>11</a:t>
            </a:fld>
            <a:endParaRPr/>
          </a:p>
        </p:txBody>
      </p:sp>
      <p:sp>
        <p:nvSpPr>
          <p:cNvPr id="91" name="Google Shape;91;p13">
            <a:extLst>
              <a:ext uri="{FF2B5EF4-FFF2-40B4-BE49-F238E27FC236}">
                <a16:creationId xmlns:a16="http://schemas.microsoft.com/office/drawing/2014/main" id="{FD5511AD-2393-BC26-C81D-7F43C3FEA700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8098420" y="6135074"/>
            <a:ext cx="2877878" cy="3774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US"/>
              <a:t>09/03/26</a:t>
            </a:r>
          </a:p>
        </p:txBody>
      </p:sp>
      <p:pic>
        <p:nvPicPr>
          <p:cNvPr id="2" name="Picture 1" descr="A graph of a graph with blue and orange bars&#10;&#10;AI-generated content may be incorrect.">
            <a:extLst>
              <a:ext uri="{FF2B5EF4-FFF2-40B4-BE49-F238E27FC236}">
                <a16:creationId xmlns:a16="http://schemas.microsoft.com/office/drawing/2014/main" id="{F6E6D4B0-1A23-D8B7-6E31-8708EF81BF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51855" y="1666194"/>
            <a:ext cx="6479767" cy="335211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F982C328-29FA-0F5D-24F0-11B32856E712}"/>
              </a:ext>
            </a:extLst>
          </p:cNvPr>
          <p:cNvSpPr txBox="1"/>
          <p:nvPr/>
        </p:nvSpPr>
        <p:spPr>
          <a:xfrm>
            <a:off x="498512" y="1827422"/>
            <a:ext cx="4175039" cy="320087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>
                <a:latin typeface="Helvetica Neue Light"/>
              </a:rPr>
              <a:t>Observed behavior under deterministic baseline </a:t>
            </a:r>
          </a:p>
          <a:p>
            <a:pPr marL="285750" indent="-285750">
              <a:buChar char="•"/>
            </a:pPr>
            <a:endParaRPr lang="en-US" sz="2000"/>
          </a:p>
          <a:p>
            <a:pPr marL="285750" indent="-285750">
              <a:buChar char="•"/>
            </a:pPr>
            <a:r>
              <a:rPr lang="en-US" sz="2000"/>
              <a:t>Both produce the same optimal delay</a:t>
            </a:r>
            <a:endParaRPr lang="en-US"/>
          </a:p>
          <a:p>
            <a:pPr marL="285750" indent="-285750">
              <a:buChar char="•"/>
            </a:pPr>
            <a:r>
              <a:rPr lang="en-US" sz="2000"/>
              <a:t>A* expands fewer nodes than Dijkstra</a:t>
            </a:r>
          </a:p>
          <a:p>
            <a:pPr marL="285750" indent="-285750">
              <a:buChar char="•"/>
            </a:pPr>
            <a:r>
              <a:rPr lang="en-US" sz="2000"/>
              <a:t>More efficient search with similar results</a:t>
            </a:r>
          </a:p>
          <a:p>
            <a:pPr algn="l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919730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>
          <a:extLst>
            <a:ext uri="{FF2B5EF4-FFF2-40B4-BE49-F238E27FC236}">
              <a16:creationId xmlns:a16="http://schemas.microsoft.com/office/drawing/2014/main" id="{D396AD4C-94DF-1ADE-F4AC-52C27FF903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3">
            <a:extLst>
              <a:ext uri="{FF2B5EF4-FFF2-40B4-BE49-F238E27FC236}">
                <a16:creationId xmlns:a16="http://schemas.microsoft.com/office/drawing/2014/main" id="{E9476A18-AC49-4377-477D-49B7EFE93BE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30566" y="-219662"/>
            <a:ext cx="10515600" cy="1998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r>
              <a:rPr lang="en-US">
                <a:latin typeface="Helvetica Neue Light"/>
              </a:rPr>
              <a:t>Limitations of Deterministic Strategy</a:t>
            </a:r>
          </a:p>
        </p:txBody>
      </p:sp>
      <p:sp>
        <p:nvSpPr>
          <p:cNvPr id="89" name="Google Shape;89;p13">
            <a:extLst>
              <a:ext uri="{FF2B5EF4-FFF2-40B4-BE49-F238E27FC236}">
                <a16:creationId xmlns:a16="http://schemas.microsoft.com/office/drawing/2014/main" id="{930D1EA7-B0DA-43E1-4C94-58A2902BA5C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30566" y="1917646"/>
            <a:ext cx="10525496" cy="45977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lnSpcReduction="10000"/>
          </a:bodyPr>
          <a:lstStyle/>
          <a:p>
            <a:pPr marL="0" indent="0">
              <a:buSzPct val="100000"/>
            </a:pPr>
            <a:r>
              <a:rPr lang="en-US" sz="2400" b="1">
                <a:solidFill>
                  <a:schemeClr val="tx1"/>
                </a:solidFill>
              </a:rPr>
              <a:t>Key Limitations</a:t>
            </a:r>
          </a:p>
          <a:p>
            <a:pPr marL="285750" indent="-285750">
              <a:buFont typeface="Arial"/>
              <a:buChar char="•"/>
            </a:pPr>
            <a:r>
              <a:rPr lang="en-US">
                <a:solidFill>
                  <a:schemeClr val="tx1"/>
                </a:solidFill>
                <a:latin typeface="Arial"/>
                <a:cs typeface="Arial"/>
              </a:rPr>
              <a:t>Routing paths are fixed and deterministic</a:t>
            </a:r>
          </a:p>
          <a:p>
            <a:pPr marL="285750" indent="-285750">
              <a:buFont typeface="Arial"/>
              <a:buChar char="•"/>
            </a:pPr>
            <a:r>
              <a:rPr lang="en-US">
                <a:solidFill>
                  <a:schemeClr val="tx1"/>
                </a:solidFill>
                <a:latin typeface="Arial"/>
                <a:cs typeface="Arial"/>
              </a:rPr>
              <a:t>Algorithms do not adapt to changing congestion</a:t>
            </a:r>
          </a:p>
          <a:p>
            <a:pPr marL="285750" indent="-285750">
              <a:buFont typeface="Arial"/>
              <a:buChar char="•"/>
            </a:pPr>
            <a:r>
              <a:rPr lang="en-US">
                <a:solidFill>
                  <a:schemeClr val="tx1"/>
                </a:solidFill>
                <a:latin typeface="Arial"/>
                <a:cs typeface="Arial"/>
              </a:rPr>
              <a:t>Traffic may concentrate on specific nodes</a:t>
            </a:r>
          </a:p>
          <a:p>
            <a:pPr marL="285750" indent="-285750">
              <a:buFont typeface="Arial"/>
              <a:buChar char="•"/>
            </a:pPr>
            <a:r>
              <a:rPr lang="en-US">
                <a:solidFill>
                  <a:schemeClr val="tx1"/>
                </a:solidFill>
                <a:latin typeface="Arial"/>
                <a:cs typeface="Arial"/>
              </a:rPr>
              <a:t>Queue delays may grow under high load</a:t>
            </a:r>
          </a:p>
          <a:p>
            <a:pPr marL="0" indent="0"/>
            <a:endParaRPr lang="en-US">
              <a:solidFill>
                <a:schemeClr val="tx1"/>
              </a:solidFill>
              <a:latin typeface="Arial"/>
              <a:cs typeface="Arial"/>
            </a:endParaRPr>
          </a:p>
          <a:p>
            <a:pPr marL="0" indent="0"/>
            <a:r>
              <a:rPr lang="en-US" sz="2400" b="1">
                <a:solidFill>
                  <a:schemeClr val="tx1"/>
                </a:solidFill>
                <a:cs typeface="Arial"/>
              </a:rPr>
              <a:t>Situations where baseline performs poorly</a:t>
            </a:r>
            <a:endParaRPr lang="en-US" sz="2400" b="1">
              <a:solidFill>
                <a:schemeClr val="tx1"/>
              </a:solidFill>
            </a:endParaRPr>
          </a:p>
          <a:p>
            <a:pPr marL="285750" indent="-285750">
              <a:buFont typeface="Arial"/>
              <a:buChar char="•"/>
            </a:pPr>
            <a:r>
              <a:rPr lang="en-US">
                <a:solidFill>
                  <a:schemeClr val="tx1"/>
                </a:solidFill>
                <a:latin typeface="Arial"/>
                <a:cs typeface="Arial"/>
              </a:rPr>
              <a:t>High network traffic</a:t>
            </a:r>
          </a:p>
          <a:p>
            <a:pPr marL="285750" indent="-285750">
              <a:buFont typeface="Arial"/>
              <a:buChar char="•"/>
            </a:pPr>
            <a:r>
              <a:rPr lang="en-US">
                <a:solidFill>
                  <a:schemeClr val="tx1"/>
                </a:solidFill>
                <a:latin typeface="Arial"/>
                <a:cs typeface="Arial"/>
              </a:rPr>
              <a:t>Congested routers along shortest path</a:t>
            </a:r>
          </a:p>
          <a:p>
            <a:pPr marL="285750" indent="-285750">
              <a:buFont typeface="Arial"/>
              <a:buChar char="•"/>
            </a:pPr>
            <a:r>
              <a:rPr lang="en-US">
                <a:solidFill>
                  <a:schemeClr val="tx1"/>
                </a:solidFill>
                <a:latin typeface="Arial"/>
                <a:cs typeface="Arial"/>
              </a:rPr>
              <a:t>Multiple alternative routes available</a:t>
            </a:r>
          </a:p>
          <a:p>
            <a:pPr marL="285750" indent="-285750">
              <a:buFont typeface="Arial"/>
              <a:buChar char="•"/>
            </a:pPr>
            <a:r>
              <a:rPr lang="en-US">
                <a:solidFill>
                  <a:schemeClr val="tx1"/>
                </a:solidFill>
                <a:latin typeface="Arial"/>
                <a:cs typeface="Arial"/>
              </a:rPr>
              <a:t>Dynamic or unpredictable network loads</a:t>
            </a:r>
          </a:p>
          <a:p>
            <a:pPr marL="0" indent="0"/>
            <a:endParaRPr lang="en-US" sz="2400" b="1">
              <a:solidFill>
                <a:schemeClr val="tx1"/>
              </a:solidFill>
              <a:cs typeface="Arial"/>
            </a:endParaRPr>
          </a:p>
          <a:p>
            <a:pPr marL="0" indent="0"/>
            <a:endParaRPr lang="en-US">
              <a:solidFill>
                <a:schemeClr val="tx1"/>
              </a:solidFill>
              <a:latin typeface="Arial"/>
              <a:cs typeface="Arial"/>
            </a:endParaRPr>
          </a:p>
          <a:p>
            <a:pPr marL="0" indent="0">
              <a:buFont typeface="Arial"/>
            </a:pPr>
            <a:endParaRPr lang="en-US">
              <a:solidFill>
                <a:schemeClr val="tx1"/>
              </a:solidFill>
              <a:latin typeface="Arial"/>
              <a:cs typeface="Arial"/>
            </a:endParaRPr>
          </a:p>
          <a:p>
            <a:pPr marL="0" indent="0"/>
            <a:endParaRPr lang="en-US" sz="2400" b="1">
              <a:solidFill>
                <a:schemeClr val="tx1"/>
              </a:solidFill>
            </a:endParaRPr>
          </a:p>
        </p:txBody>
      </p:sp>
      <p:sp>
        <p:nvSpPr>
          <p:cNvPr id="90" name="Google Shape;90;p13">
            <a:extLst>
              <a:ext uri="{FF2B5EF4-FFF2-40B4-BE49-F238E27FC236}">
                <a16:creationId xmlns:a16="http://schemas.microsoft.com/office/drawing/2014/main" id="{6A9ABDE9-A26A-F72A-7437-F27494C3B7F1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0976298" y="6135075"/>
            <a:ext cx="551121" cy="3774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/>
              <a:t>|</a:t>
            </a:r>
            <a:r>
              <a:rPr lang="en-US"/>
              <a:t>  </a:t>
            </a:r>
            <a:fld id="{00000000-1234-1234-1234-123412341234}" type="slidenum">
              <a:rPr lang="en-US"/>
              <a:t>12</a:t>
            </a:fld>
            <a:endParaRPr/>
          </a:p>
        </p:txBody>
      </p:sp>
      <p:sp>
        <p:nvSpPr>
          <p:cNvPr id="91" name="Google Shape;91;p13">
            <a:extLst>
              <a:ext uri="{FF2B5EF4-FFF2-40B4-BE49-F238E27FC236}">
                <a16:creationId xmlns:a16="http://schemas.microsoft.com/office/drawing/2014/main" id="{0D420B5C-A8F9-F145-5CE2-1C0F33CA7A31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8098420" y="6135074"/>
            <a:ext cx="2877878" cy="3774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US"/>
              <a:t>09/03/26</a:t>
            </a:r>
          </a:p>
        </p:txBody>
      </p:sp>
    </p:spTree>
    <p:extLst>
      <p:ext uri="{BB962C8B-B14F-4D97-AF65-F5344CB8AC3E}">
        <p14:creationId xmlns:p14="http://schemas.microsoft.com/office/powerpoint/2010/main" val="421668138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>
          <a:extLst>
            <a:ext uri="{FF2B5EF4-FFF2-40B4-BE49-F238E27FC236}">
              <a16:creationId xmlns:a16="http://schemas.microsoft.com/office/drawing/2014/main" id="{83E8842E-ACFB-3503-57C1-EAA1A6EA5F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3">
            <a:extLst>
              <a:ext uri="{FF2B5EF4-FFF2-40B4-BE49-F238E27FC236}">
                <a16:creationId xmlns:a16="http://schemas.microsoft.com/office/drawing/2014/main" id="{52783666-BB3F-0D16-C89F-E781F40974F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30566" y="-219662"/>
            <a:ext cx="10515600" cy="1998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r>
              <a:rPr lang="en-US">
                <a:latin typeface="Helvetica Neue Light"/>
              </a:rPr>
              <a:t>Summary and Transition to Randomized Strategies</a:t>
            </a:r>
          </a:p>
        </p:txBody>
      </p:sp>
      <p:sp>
        <p:nvSpPr>
          <p:cNvPr id="89" name="Google Shape;89;p13">
            <a:extLst>
              <a:ext uri="{FF2B5EF4-FFF2-40B4-BE49-F238E27FC236}">
                <a16:creationId xmlns:a16="http://schemas.microsoft.com/office/drawing/2014/main" id="{1C532A43-C7DE-B421-35BD-563EF659A98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30566" y="1749412"/>
            <a:ext cx="10565080" cy="424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indent="0"/>
            <a:r>
              <a:rPr lang="en-US" sz="2400" b="1">
                <a:solidFill>
                  <a:schemeClr val="tx1"/>
                </a:solidFill>
              </a:rPr>
              <a:t>Key insights from deterministic simulation</a:t>
            </a:r>
          </a:p>
          <a:p>
            <a:pPr marL="285750" indent="-285750">
              <a:buFont typeface="Arial"/>
              <a:buChar char="•"/>
            </a:pPr>
            <a:r>
              <a:rPr lang="en-US">
                <a:solidFill>
                  <a:schemeClr val="tx1"/>
                </a:solidFill>
                <a:latin typeface="Arial"/>
                <a:cs typeface="Arial"/>
              </a:rPr>
              <a:t>Network routing can be modeled as a graph where edge weights represent queue delay.</a:t>
            </a:r>
          </a:p>
          <a:p>
            <a:pPr marL="285750" indent="-285750">
              <a:buFont typeface="Arial"/>
              <a:buChar char="•"/>
            </a:pPr>
            <a:r>
              <a:rPr lang="en-US">
                <a:solidFill>
                  <a:schemeClr val="tx1"/>
                </a:solidFill>
                <a:latin typeface="Arial"/>
                <a:cs typeface="Arial"/>
              </a:rPr>
              <a:t>Dijkstra and A* compute the minimum queue delay path from source to destination.</a:t>
            </a:r>
          </a:p>
          <a:p>
            <a:pPr marL="285750" indent="-285750">
              <a:buFont typeface="Arial"/>
              <a:buChar char="•"/>
            </a:pPr>
            <a:r>
              <a:rPr lang="en-US">
                <a:solidFill>
                  <a:schemeClr val="tx1"/>
                </a:solidFill>
                <a:latin typeface="Arial"/>
                <a:cs typeface="Arial"/>
              </a:rPr>
              <a:t>A* improves efficiency by reducing search space</a:t>
            </a:r>
            <a:endParaRPr lang="en-US">
              <a:solidFill>
                <a:schemeClr val="tx1"/>
              </a:solidFill>
            </a:endParaRPr>
          </a:p>
          <a:p>
            <a:pPr marL="285750" indent="-285750">
              <a:buFont typeface="Arial"/>
              <a:buChar char="•"/>
            </a:pPr>
            <a:endParaRPr lang="en-US">
              <a:solidFill>
                <a:schemeClr val="tx1"/>
              </a:solidFill>
              <a:latin typeface="Arial"/>
              <a:cs typeface="Arial"/>
            </a:endParaRPr>
          </a:p>
          <a:p>
            <a:pPr marL="0" indent="0"/>
            <a:r>
              <a:rPr lang="en-US" sz="2400" b="1">
                <a:solidFill>
                  <a:schemeClr val="tx1"/>
                </a:solidFill>
                <a:cs typeface="Arial"/>
              </a:rPr>
              <a:t>Why a randomized approach may be useful next</a:t>
            </a:r>
            <a:endParaRPr lang="en-US" sz="2400" b="1">
              <a:solidFill>
                <a:schemeClr val="tx1"/>
              </a:solidFill>
            </a:endParaRPr>
          </a:p>
          <a:p>
            <a:pPr marL="285750" indent="-285750">
              <a:buFont typeface="Arial"/>
              <a:buChar char="•"/>
            </a:pPr>
            <a:r>
              <a:rPr lang="en-US">
                <a:solidFill>
                  <a:schemeClr val="tx1"/>
                </a:solidFill>
                <a:latin typeface="Arial"/>
                <a:cs typeface="Arial"/>
              </a:rPr>
              <a:t>Deterministic routing may concentrate traffic on the same shortest path.</a:t>
            </a:r>
          </a:p>
          <a:p>
            <a:pPr marL="285750" indent="-285750">
              <a:buFont typeface="Arial"/>
              <a:buChar char="•"/>
            </a:pPr>
            <a:r>
              <a:rPr lang="en-US">
                <a:solidFill>
                  <a:schemeClr val="tx1"/>
                </a:solidFill>
                <a:latin typeface="Arial"/>
                <a:cs typeface="Arial"/>
              </a:rPr>
              <a:t>This can create congestion and queue buildup at certain routers.</a:t>
            </a:r>
          </a:p>
          <a:p>
            <a:pPr marL="285750" indent="-285750">
              <a:buFont typeface="Arial"/>
              <a:buChar char="•"/>
            </a:pPr>
            <a:r>
              <a:rPr lang="en-US">
                <a:solidFill>
                  <a:schemeClr val="tx1"/>
                </a:solidFill>
                <a:latin typeface="Arial"/>
                <a:cs typeface="Arial"/>
              </a:rPr>
              <a:t>A randomized strategy could distribute packets across multiple paths.</a:t>
            </a:r>
          </a:p>
          <a:p>
            <a:pPr marL="285750" indent="-285750">
              <a:buFont typeface="Arial"/>
              <a:buChar char="•"/>
            </a:pPr>
            <a:r>
              <a:rPr lang="en-US">
                <a:solidFill>
                  <a:schemeClr val="tx1"/>
                </a:solidFill>
                <a:latin typeface="Arial"/>
                <a:cs typeface="Arial"/>
              </a:rPr>
              <a:t>This may help balance network load and reduce delays.</a:t>
            </a:r>
          </a:p>
          <a:p>
            <a:pPr marL="0" indent="0"/>
            <a:endParaRPr lang="en-US">
              <a:solidFill>
                <a:schemeClr val="tx1"/>
              </a:solidFill>
              <a:cs typeface="Arial"/>
            </a:endParaRPr>
          </a:p>
          <a:p>
            <a:pPr marL="0" indent="0"/>
            <a:endParaRPr lang="en-US" sz="2400" b="1">
              <a:solidFill>
                <a:schemeClr val="tx1"/>
              </a:solidFill>
            </a:endParaRPr>
          </a:p>
        </p:txBody>
      </p:sp>
      <p:sp>
        <p:nvSpPr>
          <p:cNvPr id="90" name="Google Shape;90;p13">
            <a:extLst>
              <a:ext uri="{FF2B5EF4-FFF2-40B4-BE49-F238E27FC236}">
                <a16:creationId xmlns:a16="http://schemas.microsoft.com/office/drawing/2014/main" id="{313FE59D-B4C9-FE1C-832B-3B12B4039FFC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0976298" y="6135075"/>
            <a:ext cx="551121" cy="3774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/>
              <a:t>|</a:t>
            </a:r>
            <a:r>
              <a:rPr lang="en-US"/>
              <a:t>  </a:t>
            </a:r>
            <a:fld id="{00000000-1234-1234-1234-123412341234}" type="slidenum">
              <a:rPr lang="en-US"/>
              <a:t>13</a:t>
            </a:fld>
            <a:endParaRPr/>
          </a:p>
        </p:txBody>
      </p:sp>
      <p:sp>
        <p:nvSpPr>
          <p:cNvPr id="91" name="Google Shape;91;p13">
            <a:extLst>
              <a:ext uri="{FF2B5EF4-FFF2-40B4-BE49-F238E27FC236}">
                <a16:creationId xmlns:a16="http://schemas.microsoft.com/office/drawing/2014/main" id="{ED2CB799-0415-29C5-8D8A-BA9FEBC27AE2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8098420" y="6135074"/>
            <a:ext cx="2877878" cy="3774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US"/>
              <a:t>09/03/26</a:t>
            </a:r>
          </a:p>
        </p:txBody>
      </p:sp>
    </p:spTree>
    <p:extLst>
      <p:ext uri="{BB962C8B-B14F-4D97-AF65-F5344CB8AC3E}">
        <p14:creationId xmlns:p14="http://schemas.microsoft.com/office/powerpoint/2010/main" val="31234801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Ahmedabad University ">
      <a:dk1>
        <a:srgbClr val="000000"/>
      </a:dk1>
      <a:lt1>
        <a:srgbClr val="FFFFFF"/>
      </a:lt1>
      <a:dk2>
        <a:srgbClr val="7D1916"/>
      </a:dk2>
      <a:lt2>
        <a:srgbClr val="F2F1EE"/>
      </a:lt2>
      <a:accent1>
        <a:srgbClr val="894C00"/>
      </a:accent1>
      <a:accent2>
        <a:srgbClr val="7F4700"/>
      </a:accent2>
      <a:accent3>
        <a:srgbClr val="A5A5A5"/>
      </a:accent3>
      <a:accent4>
        <a:srgbClr val="BC933E"/>
      </a:accent4>
      <a:accent5>
        <a:srgbClr val="000000"/>
      </a:accent5>
      <a:accent6>
        <a:srgbClr val="FEFFFF"/>
      </a:accent6>
      <a:hlink>
        <a:srgbClr val="000000"/>
      </a:hlink>
      <a:folHlink>
        <a:srgbClr val="FEFF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836</Words>
  <Application>Microsoft Office PowerPoint</Application>
  <PresentationFormat>Widescreen</PresentationFormat>
  <Paragraphs>166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0" baseType="lpstr">
      <vt:lpstr>Helvetica Neue Light</vt:lpstr>
      <vt:lpstr>Times New Roman</vt:lpstr>
      <vt:lpstr>Calibri</vt:lpstr>
      <vt:lpstr>Helvetica Neue</vt:lpstr>
      <vt:lpstr>Arial</vt:lpstr>
      <vt:lpstr>Courier New</vt:lpstr>
      <vt:lpstr>Office Theme</vt:lpstr>
      <vt:lpstr>Probabilistic Modeling of Network Congestion and Queue Delay</vt:lpstr>
      <vt:lpstr>Project Context and Motivation</vt:lpstr>
      <vt:lpstr>Project Objective and Deterministic Baseline</vt:lpstr>
      <vt:lpstr>System Pipeline Overview</vt:lpstr>
      <vt:lpstr>Sources of Uncertainty</vt:lpstr>
      <vt:lpstr>Key Random Variables</vt:lpstr>
      <vt:lpstr>Probabilistic Modeling with Deterministic Decisions</vt:lpstr>
      <vt:lpstr>Deterministic Baseline Logic</vt:lpstr>
      <vt:lpstr>Simulation Implementation</vt:lpstr>
      <vt:lpstr>Results and Performance Analysis</vt:lpstr>
      <vt:lpstr>PowerPoint Presentation</vt:lpstr>
      <vt:lpstr>Limitations of Deterministic Strategy</vt:lpstr>
      <vt:lpstr>Summary and Transition to Randomized Strategies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Jyotier Vithalani</dc:creator>
  <cp:lastModifiedBy>Tanmay Kanani</cp:lastModifiedBy>
  <cp:revision>1</cp:revision>
  <dcterms:modified xsi:type="dcterms:W3CDTF">2026-03-10T17:51:40Z</dcterms:modified>
</cp:coreProperties>
</file>